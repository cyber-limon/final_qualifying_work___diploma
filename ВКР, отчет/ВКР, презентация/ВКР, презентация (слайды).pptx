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351" r:id="rId3"/>
    <p:sldId id="358" r:id="rId4"/>
    <p:sldId id="357" r:id="rId5"/>
    <p:sldId id="360" r:id="rId6"/>
    <p:sldId id="361" r:id="rId7"/>
    <p:sldId id="359" r:id="rId8"/>
    <p:sldId id="362" r:id="rId9"/>
    <p:sldId id="363" r:id="rId10"/>
    <p:sldId id="369" r:id="rId11"/>
    <p:sldId id="370" r:id="rId12"/>
    <p:sldId id="365" r:id="rId13"/>
    <p:sldId id="366" r:id="rId14"/>
    <p:sldId id="367" r:id="rId15"/>
    <p:sldId id="368" r:id="rId16"/>
    <p:sldId id="371" r:id="rId17"/>
    <p:sldId id="372" r:id="rId18"/>
    <p:sldId id="373" r:id="rId19"/>
    <p:sldId id="374" r:id="rId20"/>
    <p:sldId id="375" r:id="rId21"/>
  </p:sldIdLst>
  <p:sldSz cx="12192000" cy="6858000"/>
  <p:notesSz cx="6761163" cy="988218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19CC"/>
    <a:srgbClr val="000000"/>
    <a:srgbClr val="2A1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131" autoAdjust="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58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359DB-E3B5-42B0-BC8D-BB5F2F09E98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1235075"/>
            <a:ext cx="5929313" cy="3335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117" y="4755803"/>
            <a:ext cx="5408930" cy="3891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86364"/>
            <a:ext cx="2929837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761" y="9386364"/>
            <a:ext cx="2929837" cy="495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3DA2D-DB5D-4448-98AB-C8ABCF716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22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C0DFF4-30A0-6641-A1D6-4AD7A6878D0D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068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53DA2D-DB5D-4448-98AB-C8ABCF716F6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523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/>
          <p:cNvSpPr/>
          <p:nvPr userDrawn="1"/>
        </p:nvSpPr>
        <p:spPr>
          <a:xfrm rot="10800000">
            <a:off x="764341" y="2162220"/>
            <a:ext cx="9773029" cy="329873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8231"/>
              <a:gd name="connsiteX1" fmla="*/ 0 w 909835"/>
              <a:gd name="connsiteY1" fmla="*/ 594339 h 688231"/>
              <a:gd name="connsiteX2" fmla="*/ 61184 w 909835"/>
              <a:gd name="connsiteY2" fmla="*/ 685911 h 688231"/>
              <a:gd name="connsiteX3" fmla="*/ 847726 w 909835"/>
              <a:gd name="connsiteY3" fmla="*/ 684827 h 688231"/>
              <a:gd name="connsiteX4" fmla="*/ 907257 w 909835"/>
              <a:gd name="connsiteY4" fmla="*/ 577671 h 688231"/>
              <a:gd name="connsiteX5" fmla="*/ 909835 w 909835"/>
              <a:gd name="connsiteY5" fmla="*/ 65702 h 688231"/>
              <a:gd name="connsiteX6" fmla="*/ 828675 w 909835"/>
              <a:gd name="connsiteY6" fmla="*/ 13314 h 688231"/>
              <a:gd name="connsiteX7" fmla="*/ 45244 w 909835"/>
              <a:gd name="connsiteY7" fmla="*/ 275252 h 688231"/>
              <a:gd name="connsiteX8" fmla="*/ 0 w 909835"/>
              <a:gd name="connsiteY8" fmla="*/ 384791 h 68823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45244 w 909835"/>
              <a:gd name="connsiteY7" fmla="*/ 275252 h 685911"/>
              <a:gd name="connsiteX8" fmla="*/ 0 w 909835"/>
              <a:gd name="connsiteY8" fmla="*/ 384791 h 685911"/>
              <a:gd name="connsiteX0" fmla="*/ 1990 w 911825"/>
              <a:gd name="connsiteY0" fmla="*/ 384791 h 685911"/>
              <a:gd name="connsiteX1" fmla="*/ 1990 w 911825"/>
              <a:gd name="connsiteY1" fmla="*/ 594339 h 685911"/>
              <a:gd name="connsiteX2" fmla="*/ 63174 w 911825"/>
              <a:gd name="connsiteY2" fmla="*/ 685911 h 685911"/>
              <a:gd name="connsiteX3" fmla="*/ 849716 w 911825"/>
              <a:gd name="connsiteY3" fmla="*/ 684827 h 685911"/>
              <a:gd name="connsiteX4" fmla="*/ 909247 w 911825"/>
              <a:gd name="connsiteY4" fmla="*/ 577671 h 685911"/>
              <a:gd name="connsiteX5" fmla="*/ 911825 w 911825"/>
              <a:gd name="connsiteY5" fmla="*/ 65702 h 685911"/>
              <a:gd name="connsiteX6" fmla="*/ 830665 w 911825"/>
              <a:gd name="connsiteY6" fmla="*/ 13314 h 685911"/>
              <a:gd name="connsiteX7" fmla="*/ 35396 w 911825"/>
              <a:gd name="connsiteY7" fmla="*/ 282118 h 685911"/>
              <a:gd name="connsiteX8" fmla="*/ 1990 w 911825"/>
              <a:gd name="connsiteY8" fmla="*/ 384791 h 68591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33406 w 909835"/>
              <a:gd name="connsiteY7" fmla="*/ 282118 h 685911"/>
              <a:gd name="connsiteX8" fmla="*/ 0 w 909835"/>
              <a:gd name="connsiteY8" fmla="*/ 384791 h 685911"/>
              <a:gd name="connsiteX0" fmla="*/ 0 w 909835"/>
              <a:gd name="connsiteY0" fmla="*/ 388112 h 689232"/>
              <a:gd name="connsiteX1" fmla="*/ 0 w 909835"/>
              <a:gd name="connsiteY1" fmla="*/ 597660 h 689232"/>
              <a:gd name="connsiteX2" fmla="*/ 61184 w 909835"/>
              <a:gd name="connsiteY2" fmla="*/ 689232 h 689232"/>
              <a:gd name="connsiteX3" fmla="*/ 847726 w 909835"/>
              <a:gd name="connsiteY3" fmla="*/ 688148 h 689232"/>
              <a:gd name="connsiteX4" fmla="*/ 907257 w 909835"/>
              <a:gd name="connsiteY4" fmla="*/ 580992 h 689232"/>
              <a:gd name="connsiteX5" fmla="*/ 909835 w 909835"/>
              <a:gd name="connsiteY5" fmla="*/ 69023 h 689232"/>
              <a:gd name="connsiteX6" fmla="*/ 851612 w 909835"/>
              <a:gd name="connsiteY6" fmla="*/ 11485 h 689232"/>
              <a:gd name="connsiteX7" fmla="*/ 33406 w 909835"/>
              <a:gd name="connsiteY7" fmla="*/ 285439 h 689232"/>
              <a:gd name="connsiteX8" fmla="*/ 0 w 909835"/>
              <a:gd name="connsiteY8" fmla="*/ 388112 h 68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89232">
                <a:moveTo>
                  <a:pt x="0" y="388112"/>
                </a:moveTo>
                <a:lnTo>
                  <a:pt x="0" y="597660"/>
                </a:lnTo>
                <a:cubicBezTo>
                  <a:pt x="314" y="708613"/>
                  <a:pt x="1707" y="683031"/>
                  <a:pt x="61184" y="689232"/>
                </a:cubicBezTo>
                <a:lnTo>
                  <a:pt x="847726" y="688148"/>
                </a:lnTo>
                <a:cubicBezTo>
                  <a:pt x="914024" y="696683"/>
                  <a:pt x="907077" y="646519"/>
                  <a:pt x="907257" y="580992"/>
                </a:cubicBezTo>
                <a:cubicBezTo>
                  <a:pt x="908116" y="410336"/>
                  <a:pt x="908976" y="239679"/>
                  <a:pt x="909835" y="69023"/>
                </a:cubicBezTo>
                <a:cubicBezTo>
                  <a:pt x="909889" y="-19382"/>
                  <a:pt x="896982" y="-2998"/>
                  <a:pt x="851612" y="11485"/>
                </a:cubicBezTo>
                <a:lnTo>
                  <a:pt x="33406" y="285439"/>
                </a:lnTo>
                <a:cubicBezTo>
                  <a:pt x="-5008" y="299234"/>
                  <a:pt x="701" y="316090"/>
                  <a:pt x="0" y="388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 userDrawn="1"/>
        </p:nvSpPr>
        <p:spPr>
          <a:xfrm>
            <a:off x="4730750" y="1217017"/>
            <a:ext cx="6781800" cy="2192335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326">
                <a:moveTo>
                  <a:pt x="0" y="384791"/>
                </a:moveTo>
                <a:lnTo>
                  <a:pt x="0" y="594339"/>
                </a:lnTo>
                <a:cubicBezTo>
                  <a:pt x="314" y="705292"/>
                  <a:pt x="53182" y="691972"/>
                  <a:pt x="111919" y="689590"/>
                </a:cubicBezTo>
                <a:lnTo>
                  <a:pt x="847726" y="684827"/>
                </a:lnTo>
                <a:cubicBezTo>
                  <a:pt x="914024" y="693362"/>
                  <a:pt x="907077" y="643198"/>
                  <a:pt x="907257" y="577671"/>
                </a:cubicBezTo>
                <a:cubicBezTo>
                  <a:pt x="908116" y="407015"/>
                  <a:pt x="908976" y="236358"/>
                  <a:pt x="909835" y="65702"/>
                </a:cubicBezTo>
                <a:cubicBezTo>
                  <a:pt x="909889" y="-22703"/>
                  <a:pt x="874045" y="-1169"/>
                  <a:pt x="828675" y="13314"/>
                </a:cubicBezTo>
                <a:lnTo>
                  <a:pt x="45244" y="275252"/>
                </a:lnTo>
                <a:cubicBezTo>
                  <a:pt x="-3528" y="294197"/>
                  <a:pt x="701" y="312769"/>
                  <a:pt x="0" y="38479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2"/>
          <p:cNvSpPr>
            <a:spLocks noGrp="1"/>
          </p:cNvSpPr>
          <p:nvPr>
            <p:ph type="title" hasCustomPrompt="1"/>
          </p:nvPr>
        </p:nvSpPr>
        <p:spPr>
          <a:xfrm>
            <a:off x="1206500" y="2574930"/>
            <a:ext cx="727710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ba-RU" dirty="0"/>
              <a:t>Заголовок</a:t>
            </a:r>
            <a:endParaRPr lang="ru-RU" dirty="0"/>
          </a:p>
        </p:txBody>
      </p:sp>
      <p:sp>
        <p:nvSpPr>
          <p:cNvPr id="18" name="Полилиния 17"/>
          <p:cNvSpPr/>
          <p:nvPr userDrawn="1"/>
        </p:nvSpPr>
        <p:spPr>
          <a:xfrm rot="10800000">
            <a:off x="1575971" y="4090869"/>
            <a:ext cx="7747000" cy="189925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60014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9590"/>
              <a:gd name="connsiteX1" fmla="*/ 0 w 909835"/>
              <a:gd name="connsiteY1" fmla="*/ 594339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4791 h 690195"/>
              <a:gd name="connsiteX1" fmla="*/ 0 w 909835"/>
              <a:gd name="connsiteY1" fmla="*/ 594339 h 690195"/>
              <a:gd name="connsiteX2" fmla="*/ 60014 w 909835"/>
              <a:gd name="connsiteY2" fmla="*/ 689590 h 690195"/>
              <a:gd name="connsiteX3" fmla="*/ 847726 w 909835"/>
              <a:gd name="connsiteY3" fmla="*/ 684827 h 690195"/>
              <a:gd name="connsiteX4" fmla="*/ 907257 w 909835"/>
              <a:gd name="connsiteY4" fmla="*/ 577671 h 690195"/>
              <a:gd name="connsiteX5" fmla="*/ 909835 w 909835"/>
              <a:gd name="connsiteY5" fmla="*/ 65702 h 690195"/>
              <a:gd name="connsiteX6" fmla="*/ 828675 w 909835"/>
              <a:gd name="connsiteY6" fmla="*/ 13314 h 690195"/>
              <a:gd name="connsiteX7" fmla="*/ 45244 w 909835"/>
              <a:gd name="connsiteY7" fmla="*/ 275252 h 690195"/>
              <a:gd name="connsiteX8" fmla="*/ 0 w 909835"/>
              <a:gd name="connsiteY8" fmla="*/ 384791 h 690195"/>
              <a:gd name="connsiteX0" fmla="*/ 0 w 909835"/>
              <a:gd name="connsiteY0" fmla="*/ 384791 h 689590"/>
              <a:gd name="connsiteX1" fmla="*/ 0 w 909835"/>
              <a:gd name="connsiteY1" fmla="*/ 580458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969">
                <a:moveTo>
                  <a:pt x="0" y="387170"/>
                </a:moveTo>
                <a:lnTo>
                  <a:pt x="0" y="582837"/>
                </a:lnTo>
                <a:cubicBezTo>
                  <a:pt x="314" y="693790"/>
                  <a:pt x="2172" y="691574"/>
                  <a:pt x="60014" y="691969"/>
                </a:cubicBezTo>
                <a:lnTo>
                  <a:pt x="847726" y="687206"/>
                </a:lnTo>
                <a:cubicBezTo>
                  <a:pt x="901495" y="687412"/>
                  <a:pt x="901708" y="648353"/>
                  <a:pt x="907257" y="580050"/>
                </a:cubicBezTo>
                <a:cubicBezTo>
                  <a:pt x="908116" y="409394"/>
                  <a:pt x="908976" y="238737"/>
                  <a:pt x="909835" y="68081"/>
                </a:cubicBezTo>
                <a:cubicBezTo>
                  <a:pt x="906309" y="-20324"/>
                  <a:pt x="891944" y="-1567"/>
                  <a:pt x="845679" y="10140"/>
                </a:cubicBezTo>
                <a:lnTo>
                  <a:pt x="45244" y="277631"/>
                </a:lnTo>
                <a:cubicBezTo>
                  <a:pt x="-3528" y="296576"/>
                  <a:pt x="701" y="315148"/>
                  <a:pt x="0" y="38717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168525" y="4609503"/>
            <a:ext cx="6315075" cy="617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a-RU" dirty="0"/>
              <a:t>П</a:t>
            </a:r>
            <a:r>
              <a:rPr lang="ru-RU" dirty="0" err="1"/>
              <a:t>одзаголовок</a:t>
            </a:r>
            <a:endParaRPr lang="ru-RU" dirty="0"/>
          </a:p>
        </p:txBody>
      </p:sp>
      <p:sp>
        <p:nvSpPr>
          <p:cNvPr id="21" name="Подзаголовок 2"/>
          <p:cNvSpPr txBox="1">
            <a:spLocks/>
          </p:cNvSpPr>
          <p:nvPr userDrawn="1"/>
        </p:nvSpPr>
        <p:spPr>
          <a:xfrm>
            <a:off x="10764611" y="6198688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22" name="Прямая соединительная линия 21"/>
          <p:cNvCxnSpPr/>
          <p:nvPr userDrawn="1"/>
        </p:nvCxnSpPr>
        <p:spPr>
          <a:xfrm flipH="1">
            <a:off x="10764611" y="6580776"/>
            <a:ext cx="142738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7E17F2-3CC4-B00E-27FE-B100C036B91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2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95274" y="6231330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одзаголовок 2"/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95275" y="1052424"/>
            <a:ext cx="11601450" cy="51402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0414"/>
            <a:ext cx="11601450" cy="70330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4400" b="1">
                <a:solidFill>
                  <a:srgbClr val="4D19CC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13A6F7-2742-3083-E2DC-794A5C5D8D1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74112" y="327461"/>
            <a:ext cx="2422612" cy="509211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0CCBB3D-6731-49C7-EAE6-824574790335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000" dirty="0">
              <a:solidFill>
                <a:schemeClr val="bg2">
                  <a:lumMod val="75000"/>
                </a:schemeClr>
              </a:solidFill>
              <a:effectLst/>
              <a:latin typeface="+mn-lt"/>
            </a:endParaRP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01497A03-FF97-1DE6-16A7-2B5C9E76C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3524" y="6290290"/>
            <a:ext cx="2743200" cy="293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rgbClr val="4D19CC"/>
                </a:solidFill>
              </a:defRPr>
            </a:lvl1pPr>
          </a:lstStyle>
          <a:p>
            <a:fld id="{FF35AAD1-A493-400F-9DA1-8BA2671D97BC}" type="slidenum">
              <a:rPr lang="ru-RU" smtClean="0"/>
              <a:pPr/>
              <a:t>‹#›</a:t>
            </a:fld>
            <a:r>
              <a:rPr lang="ru-RU" dirty="0"/>
              <a:t> </a:t>
            </a:r>
            <a:r>
              <a:rPr lang="en-US" dirty="0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5760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ополн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0CCBB3D-6731-49C7-EAE6-824574790335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000" dirty="0">
              <a:solidFill>
                <a:schemeClr val="bg2">
                  <a:lumMod val="75000"/>
                </a:schemeClr>
              </a:solidFill>
              <a:effectLst/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7C2AF3-EE83-9B31-212B-10AA089ABFA3}"/>
              </a:ext>
            </a:extLst>
          </p:cNvPr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A8D7BA37-0C0D-5BDD-E784-647A4ACCB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3524" y="6290290"/>
            <a:ext cx="2743200" cy="293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rgbClr val="4D19CC"/>
                </a:solidFill>
              </a:defRPr>
            </a:lvl1pPr>
          </a:lstStyle>
          <a:p>
            <a:fld id="{FF35AAD1-A493-400F-9DA1-8BA2671D97BC}" type="slidenum">
              <a:rPr lang="ru-RU" smtClean="0"/>
              <a:pPr/>
              <a:t>‹#›</a:t>
            </a:fld>
            <a:r>
              <a:rPr lang="ru-RU" dirty="0"/>
              <a:t> </a:t>
            </a:r>
            <a:r>
              <a:rPr lang="en-US" dirty="0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7652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417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C17C9070-C464-2FE9-FC8A-0ECE847FF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007" y="2394022"/>
            <a:ext cx="9189720" cy="1452969"/>
          </a:xfrm>
        </p:spPr>
        <p:txBody>
          <a:bodyPr>
            <a:noAutofit/>
          </a:bodyPr>
          <a:lstStyle/>
          <a:p>
            <a:pPr algn="ctr"/>
            <a:r>
              <a:rPr lang="ru-RU" sz="3000" dirty="0"/>
              <a:t>МАТЕМАТИЧЕСКОЕ И ПРОГРАММНОЕ ОБЕСПЕЧЕНИЕ ДЛЯ ПРОГНОЗИРОВАНИЯ СВОЙСТВ МЕДИЦИНСКИХ КОМПОЗИЦИОННЫХ МАТЕРИАЛОВ</a:t>
            </a:r>
          </a:p>
        </p:txBody>
      </p:sp>
      <p:sp>
        <p:nvSpPr>
          <p:cNvPr id="9" name="Подзаголовок 8">
            <a:extLst>
              <a:ext uri="{FF2B5EF4-FFF2-40B4-BE49-F238E27FC236}">
                <a16:creationId xmlns:a16="http://schemas.microsoft.com/office/drawing/2014/main" id="{891DC945-4E83-0D2D-5943-1DE9F0383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033" y="4233293"/>
            <a:ext cx="7606411" cy="145296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2A1468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Выполнил: Шарыгин М.С., МО-425Б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2A1468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Руководитель: </a:t>
            </a:r>
            <a:r>
              <a:rPr lang="ru-RU" sz="2000" b="1" dirty="0" err="1">
                <a:solidFill>
                  <a:srgbClr val="2A1468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Нургаянова</a:t>
            </a:r>
            <a:r>
              <a:rPr lang="ru-RU" sz="2000" b="1" dirty="0">
                <a:solidFill>
                  <a:srgbClr val="2A1468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 О.С., к.т.н., доцент</a:t>
            </a:r>
          </a:p>
        </p:txBody>
      </p:sp>
    </p:spTree>
    <p:extLst>
      <p:ext uri="{BB962C8B-B14F-4D97-AF65-F5344CB8AC3E}">
        <p14:creationId xmlns:p14="http://schemas.microsoft.com/office/powerpoint/2010/main" val="245191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7986F0E0-9ADC-8F35-3BBE-B22364E5D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Потребность стоматологии в ускорении разработки новых материалов с заданными свойствами для имплантатов, коронок, пломб и прочих конструкций;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Экономическая целесообразность – снижение затрат на проведение экспериментов за счёт предварительного компьютерного прогнозирования свойств материалов;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Уровень исследования вопроса – отсутствие открытых и доступных программных решений для прогнозирования свойств именно медицинских сплавов с возможностью интерактивного ввода состава и получения прогноза по нескольким свойствам одновременно;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sz="2000" dirty="0"/>
              <a:t>Наличие экспериментальной базы сплавов – для исследования доступна ранее не использованная для данной темы выборка из 220 образцов, позволяющая обучать и сравнивать модели машинного обучения.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FC8D4A-8232-CEC7-EF1B-F903FD4F5D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ru-RU" dirty="0"/>
              <a:t>Актуальность</a:t>
            </a:r>
          </a:p>
        </p:txBody>
      </p:sp>
      <p:pic>
        <p:nvPicPr>
          <p:cNvPr id="5" name="Рисунок 4" descr="Два зубных имплантата. 3D рендеринг">
            <a:extLst>
              <a:ext uri="{FF2B5EF4-FFF2-40B4-BE49-F238E27FC236}">
                <a16:creationId xmlns:a16="http://schemas.microsoft.com/office/drawing/2014/main" id="{1FF49149-9820-3627-F78D-35DDDCA78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974" y="4572656"/>
            <a:ext cx="1620000" cy="1620000"/>
          </a:xfrm>
          <a:prstGeom prst="rect">
            <a:avLst/>
          </a:prstGeom>
        </p:spPr>
      </p:pic>
      <p:pic>
        <p:nvPicPr>
          <p:cNvPr id="7" name="Рисунок 6" descr="3d визуализация зубов с различными типами зубной начинки">
            <a:extLst>
              <a:ext uri="{FF2B5EF4-FFF2-40B4-BE49-F238E27FC236}">
                <a16:creationId xmlns:a16="http://schemas.microsoft.com/office/drawing/2014/main" id="{0CB25D12-D114-A499-8CB9-635BAD3C2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4" y="4572656"/>
            <a:ext cx="2160000" cy="1620000"/>
          </a:xfrm>
          <a:prstGeom prst="rect">
            <a:avLst/>
          </a:prstGeom>
        </p:spPr>
      </p:pic>
      <p:pic>
        <p:nvPicPr>
          <p:cNvPr id="8" name="Рисунок 7" descr="3d визуализация зубов с различными типами амальгамной начинки">
            <a:extLst>
              <a:ext uri="{FF2B5EF4-FFF2-40B4-BE49-F238E27FC236}">
                <a16:creationId xmlns:a16="http://schemas.microsoft.com/office/drawing/2014/main" id="{44D66670-0FFE-C77B-347B-D6F2ECCFB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024" y="4572656"/>
            <a:ext cx="2430001" cy="1620000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89401CD-285E-8504-37F7-6349C81D7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2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  <p:pic>
        <p:nvPicPr>
          <p:cNvPr id="10" name="Рисунок 9" descr="3D render van tandheelkundige brug met tandheelkundige kronen">
            <a:extLst>
              <a:ext uri="{FF2B5EF4-FFF2-40B4-BE49-F238E27FC236}">
                <a16:creationId xmlns:a16="http://schemas.microsoft.com/office/drawing/2014/main" id="{93849926-6BDA-444B-5502-62565C8DFD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775" y="4572656"/>
            <a:ext cx="2316449" cy="1620000"/>
          </a:xfrm>
          <a:prstGeom prst="rect">
            <a:avLst/>
          </a:prstGeom>
        </p:spPr>
      </p:pic>
      <p:pic>
        <p:nvPicPr>
          <p:cNvPr id="21" name="Рисунок 20" descr="Het tand-implantaat">
            <a:extLst>
              <a:ext uri="{FF2B5EF4-FFF2-40B4-BE49-F238E27FC236}">
                <a16:creationId xmlns:a16="http://schemas.microsoft.com/office/drawing/2014/main" id="{58873ECC-5F87-90A1-3EDA-B320CB31DF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6724" y="4572656"/>
            <a:ext cx="216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1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A34A4152-FB62-3D9A-FC51-346ECAD921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b="1" dirty="0"/>
              <a:t>Цель: </a:t>
            </a:r>
            <a:r>
              <a:rPr lang="ru-RU" dirty="0"/>
              <a:t>разработать математическое и программное обеспечения для прогнозирования свойств медицинских композиционных материалов.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ru-RU" dirty="0"/>
          </a:p>
          <a:p>
            <a:pPr lvl="0">
              <a:lnSpc>
                <a:spcPct val="100000"/>
              </a:lnSpc>
            </a:pPr>
            <a:r>
              <a:rPr lang="ru-RU" b="1" dirty="0"/>
              <a:t>Задачи: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Провести анализ предметной области и существующих программных решений для прогнозирования свойств медицинских композитов;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Исследовать возможные методы для решения задачи прогнозирования по химическому составу;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Разработать алгоритмическое и программное обеспечение для решения задачи «состав-свойство»;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Выполнить вычислительные эксперименты и тестирование разработанного программного обеспечения.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7B3045-A135-901C-9D6E-D935318FFF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Цель и задачи ВКР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BDD32E-4C93-8C4B-2F94-9CEB08A94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3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2991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178776B6-99EA-26F1-502D-6826D5BA43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Обзор существующих решений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F251ED5-BE4C-8886-E547-A1CF90BAA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808876"/>
              </p:ext>
            </p:extLst>
          </p:nvPr>
        </p:nvGraphicFramePr>
        <p:xfrm>
          <a:off x="295276" y="1140644"/>
          <a:ext cx="11601448" cy="5039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696">
                  <a:extLst>
                    <a:ext uri="{9D8B030D-6E8A-4147-A177-3AD203B41FA5}">
                      <a16:colId xmlns:a16="http://schemas.microsoft.com/office/drawing/2014/main" val="3966435598"/>
                    </a:ext>
                  </a:extLst>
                </a:gridCol>
                <a:gridCol w="3148584">
                  <a:extLst>
                    <a:ext uri="{9D8B030D-6E8A-4147-A177-3AD203B41FA5}">
                      <a16:colId xmlns:a16="http://schemas.microsoft.com/office/drawing/2014/main" val="1869267028"/>
                    </a:ext>
                  </a:extLst>
                </a:gridCol>
                <a:gridCol w="3148584">
                  <a:extLst>
                    <a:ext uri="{9D8B030D-6E8A-4147-A177-3AD203B41FA5}">
                      <a16:colId xmlns:a16="http://schemas.microsoft.com/office/drawing/2014/main" val="3573907015"/>
                    </a:ext>
                  </a:extLst>
                </a:gridCol>
                <a:gridCol w="3148584">
                  <a:extLst>
                    <a:ext uri="{9D8B030D-6E8A-4147-A177-3AD203B41FA5}">
                      <a16:colId xmlns:a16="http://schemas.microsoft.com/office/drawing/2014/main" val="1515711097"/>
                    </a:ext>
                  </a:extLst>
                </a:gridCol>
              </a:tblGrid>
              <a:tr h="66762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Программное решение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Краткое описание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Преимущества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Недостатки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719804"/>
                  </a:ext>
                </a:extLst>
              </a:tr>
              <a:tr h="15384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rgbClr val="2A1468"/>
                          </a:solidFill>
                        </a:rPr>
                        <a:t>JMatPro</a:t>
                      </a:r>
                      <a:endParaRPr lang="ru-RU" sz="2000" dirty="0">
                        <a:solidFill>
                          <a:srgbClr val="2A1468"/>
                        </a:solidFill>
                      </a:endParaRPr>
                    </a:p>
                    <a:p>
                      <a:pPr algn="ctr"/>
                      <a:r>
                        <a:rPr lang="ru-RU" sz="2000" dirty="0">
                          <a:solidFill>
                            <a:srgbClr val="2A1468"/>
                          </a:solidFill>
                        </a:rPr>
                        <a:t>(Великобритания)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Рассчитывает широкий спектр физико-механических свойств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Быстрые, точные и надежные расчеты</a:t>
                      </a:r>
                      <a:r>
                        <a:rPr lang="en-US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ru-RU" sz="1800" kern="1200" dirty="0">
                        <a:solidFill>
                          <a:srgbClr val="2A146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Простота использования</a:t>
                      </a:r>
                      <a:r>
                        <a:rPr lang="en-US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ru-RU" sz="1800" kern="1200" dirty="0">
                        <a:solidFill>
                          <a:srgbClr val="2A146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Онлайн-поддержка.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 стоимость лицензии</a:t>
                      </a:r>
                      <a:r>
                        <a:rPr lang="en-US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endParaRPr lang="ru-RU" sz="1800" kern="1200" dirty="0">
                        <a:solidFill>
                          <a:srgbClr val="2A146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Необходимо владеть специальными знаниями.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628012"/>
                  </a:ext>
                </a:extLst>
              </a:tr>
              <a:tr h="1538446">
                <a:tc>
                  <a:txBody>
                    <a:bodyPr/>
                    <a:lstStyle/>
                    <a:p>
                      <a:pPr algn="ctr"/>
                      <a:r>
                        <a:rPr lang="ru-RU" sz="2000" kern="1200" dirty="0" err="1">
                          <a:solidFill>
                            <a:srgbClr val="2A1468"/>
                          </a:solidFill>
                          <a:latin typeface="+mn-lt"/>
                          <a:ea typeface="+mn-ea"/>
                          <a:cs typeface="+mn-cs"/>
                        </a:rPr>
                        <a:t>Thermo-Calc</a:t>
                      </a:r>
                      <a:endParaRPr lang="ru-RU" sz="2000" kern="1200" dirty="0">
                        <a:solidFill>
                          <a:srgbClr val="2A146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ru-RU" sz="2000" kern="1200" dirty="0">
                          <a:solidFill>
                            <a:srgbClr val="2A1468"/>
                          </a:solidFill>
                          <a:latin typeface="+mn-lt"/>
                          <a:ea typeface="+mn-ea"/>
                          <a:cs typeface="+mn-cs"/>
                        </a:rPr>
                        <a:t>(Швеция)</a:t>
                      </a:r>
                      <a:endParaRPr lang="ru-RU" sz="20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Платформа для </a:t>
                      </a:r>
                      <a:r>
                        <a:rPr lang="ru-RU" sz="1800" kern="1200" dirty="0" err="1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термо</a:t>
                      </a: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-динамических и кинетических расчётов в материаловедении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Расчёт следующих свойств: 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химических,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теплофизических</a:t>
                      </a:r>
                      <a:r>
                        <a:rPr lang="en-US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ru-RU" sz="1800" kern="1200" dirty="0">
                        <a:solidFill>
                          <a:srgbClr val="2A146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упругости</a:t>
                      </a:r>
                      <a:r>
                        <a:rPr lang="en-US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ru-RU" sz="1800" kern="1200" dirty="0">
                        <a:solidFill>
                          <a:srgbClr val="2A146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прочих.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Нужно покупать: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калькуляторы</a:t>
                      </a:r>
                      <a:r>
                        <a:rPr lang="en-US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ru-RU" sz="1800" kern="1200" dirty="0">
                        <a:solidFill>
                          <a:srgbClr val="2A146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базы данных материалов.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12651"/>
                  </a:ext>
                </a:extLst>
              </a:tr>
              <a:tr h="1261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err="1">
                          <a:solidFill>
                            <a:srgbClr val="2A1468"/>
                          </a:solidFill>
                          <a:latin typeface="+mn-lt"/>
                          <a:ea typeface="+mn-ea"/>
                          <a:cs typeface="+mn-cs"/>
                        </a:rPr>
                        <a:t>Ansys</a:t>
                      </a:r>
                      <a:r>
                        <a:rPr lang="ru-RU" sz="2000" kern="1200" dirty="0">
                          <a:solidFill>
                            <a:srgbClr val="2A1468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kern="1200" dirty="0">
                          <a:solidFill>
                            <a:srgbClr val="2A1468"/>
                          </a:solidFill>
                          <a:latin typeface="+mn-lt"/>
                          <a:ea typeface="+mn-ea"/>
                          <a:cs typeface="+mn-cs"/>
                        </a:rPr>
                        <a:t>GRANTA</a:t>
                      </a:r>
                    </a:p>
                    <a:p>
                      <a:pPr algn="ctr"/>
                      <a:r>
                        <a:rPr lang="ru-RU" sz="2000" dirty="0">
                          <a:solidFill>
                            <a:srgbClr val="2A1468"/>
                          </a:solidFill>
                        </a:rPr>
                        <a:t>(США)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rgbClr val="2A146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для инженерного анализа и численного моделирования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Обширные базы данных: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материалов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,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сплавов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,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свойств.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Стоимость лицензии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Сложность применения.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5239093"/>
                  </a:ext>
                </a:extLst>
              </a:tr>
            </a:tbl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9B58AD-4007-EDA6-205E-0C18ABD7E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4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1745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34A2E687-681E-DA6E-8DEC-21C54032A3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rgbClr val="000000"/>
                </a:solidFill>
              </a:rPr>
              <a:t>Дано: </a:t>
            </a:r>
            <a:r>
              <a:rPr lang="ru-RU" dirty="0">
                <a:solidFill>
                  <a:srgbClr val="000000"/>
                </a:solidFill>
              </a:rPr>
              <a:t>набор структурированных патентных данных о составах и свойствах никель-хромовых композитов.</a:t>
            </a:r>
          </a:p>
          <a:p>
            <a:pPr>
              <a:lnSpc>
                <a:spcPct val="100000"/>
              </a:lnSpc>
            </a:pPr>
            <a:endParaRPr lang="ru-RU" dirty="0"/>
          </a:p>
          <a:p>
            <a:pPr>
              <a:lnSpc>
                <a:spcPct val="100000"/>
              </a:lnSpc>
            </a:pPr>
            <a:r>
              <a:rPr lang="ru-RU" b="1" dirty="0">
                <a:solidFill>
                  <a:srgbClr val="000000"/>
                </a:solidFill>
              </a:rPr>
              <a:t>Требуется: </a:t>
            </a:r>
            <a:r>
              <a:rPr lang="ru-RU" dirty="0"/>
              <a:t>по заданному химическому составу спрогнозировать следующие физико-механические свойства: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99B7FD-2731-AC00-6C69-3ACF08AE52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Содержательная 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одзаголовок 1">
                <a:extLst>
                  <a:ext uri="{FF2B5EF4-FFF2-40B4-BE49-F238E27FC236}">
                    <a16:creationId xmlns:a16="http://schemas.microsoft.com/office/drawing/2014/main" id="{BB88C3AE-A689-1E1B-B9DF-075D30A7E5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5274" y="3146256"/>
                <a:ext cx="11601450" cy="1530519"/>
              </a:xfrm>
              <a:prstGeom prst="rect">
                <a:avLst/>
              </a:prstGeom>
            </p:spPr>
            <p:txBody>
              <a:bodyPr numCol="2">
                <a:noAutofit/>
              </a:bodyPr>
              <a:lstStyle>
                <a:lvl1pPr marL="0" indent="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«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dirty="0"/>
                  <a:t>» – плотность 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г</m:t>
                        </m:r>
                      </m:num>
                      <m:den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см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dirty="0"/>
                  <a:t>),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«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» – модуль упругости (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ГПа</m:t>
                    </m:r>
                  </m:oMath>
                </a14:m>
                <a:r>
                  <a:rPr lang="ru-RU" dirty="0"/>
                  <a:t>)</a:t>
                </a:r>
                <a:r>
                  <a:rPr lang="en-US" dirty="0"/>
                  <a:t>,</a:t>
                </a:r>
                <a:endParaRPr lang="ru-RU" dirty="0"/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ru-RU" dirty="0"/>
                  <a:t>»</a:t>
                </a:r>
                <a:r>
                  <a:rPr lang="en-US" dirty="0"/>
                  <a:t> –</a:t>
                </a:r>
                <a:r>
                  <a:rPr lang="ru-RU" dirty="0"/>
                  <a:t> твердость по Виккерсу 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кгс</m:t>
                        </m:r>
                      </m:num>
                      <m:den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мм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dirty="0"/>
                  <a:t>),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«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»</a:t>
                </a:r>
                <a:r>
                  <a:rPr lang="en-US" dirty="0"/>
                  <a:t> –</a:t>
                </a:r>
                <a:r>
                  <a:rPr lang="ru-RU" dirty="0"/>
                  <a:t> предел прочности (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МПа</m:t>
                    </m:r>
                  </m:oMath>
                </a14:m>
                <a:r>
                  <a:rPr lang="ru-RU" dirty="0"/>
                  <a:t>)</a:t>
                </a:r>
                <a:r>
                  <a:rPr lang="en-US" dirty="0"/>
                  <a:t>,</a:t>
                </a:r>
                <a:endParaRPr lang="ru-RU" dirty="0"/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0.2</m:t>
                        </m:r>
                      </m:sub>
                    </m:sSub>
                  </m:oMath>
                </a14:m>
                <a:r>
                  <a:rPr lang="ru-RU" dirty="0"/>
                  <a:t>» – предел текучести (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МПа</m:t>
                    </m:r>
                  </m:oMath>
                </a14:m>
                <a:r>
                  <a:rPr lang="ru-RU" dirty="0"/>
                  <a:t>)</a:t>
                </a:r>
                <a:r>
                  <a:rPr lang="en-US" dirty="0"/>
                  <a:t>,</a:t>
                </a:r>
                <a:endParaRPr lang="ru-RU" dirty="0"/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dirty="0"/>
                  <a:t>» – относительное удлинение (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ru-RU" dirty="0"/>
                  <a:t>),</a:t>
                </a:r>
              </a:p>
            </p:txBody>
          </p:sp>
        </mc:Choice>
        <mc:Fallback xmlns="">
          <p:sp>
            <p:nvSpPr>
              <p:cNvPr id="9" name="Подзаголовок 1">
                <a:extLst>
                  <a:ext uri="{FF2B5EF4-FFF2-40B4-BE49-F238E27FC236}">
                    <a16:creationId xmlns:a16="http://schemas.microsoft.com/office/drawing/2014/main" id="{BB88C3AE-A689-1E1B-B9DF-075D30A7E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74" y="3146256"/>
                <a:ext cx="11601450" cy="1530519"/>
              </a:xfrm>
              <a:prstGeom prst="rect">
                <a:avLst/>
              </a:prstGeom>
              <a:blipFill>
                <a:blip r:embed="rId2"/>
                <a:stretch>
                  <a:fillRect l="-683" t="-34661" b="-57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одзаголовок 1">
                <a:extLst>
                  <a:ext uri="{FF2B5EF4-FFF2-40B4-BE49-F238E27FC236}">
                    <a16:creationId xmlns:a16="http://schemas.microsoft.com/office/drawing/2014/main" id="{8BBA5D1A-706F-C03C-7CE2-3A3ADE4AE7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5274" y="4676775"/>
                <a:ext cx="11601450" cy="109146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КТР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20−600</m:t>
                        </m:r>
                      </m:sub>
                    </m:sSub>
                  </m:oMath>
                </a14:m>
                <a:r>
                  <a:rPr lang="ru-RU" dirty="0"/>
                  <a:t>» – </a:t>
                </a:r>
                <a:r>
                  <a:rPr lang="ru-RU" dirty="0" err="1"/>
                  <a:t>коэф</a:t>
                </a:r>
                <a:r>
                  <a:rPr lang="ru-RU" dirty="0"/>
                  <a:t>. термического расширения при нагреве от 20 до 600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ru-RU" dirty="0"/>
                  <a:t> 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ru-RU" dirty="0"/>
                  <a:t>),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dirty="0"/>
                  <a:t>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КТР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25−500</m:t>
                        </m:r>
                      </m:sub>
                    </m:sSub>
                  </m:oMath>
                </a14:m>
                <a:r>
                  <a:rPr lang="ru-RU" dirty="0"/>
                  <a:t>» – </a:t>
                </a:r>
                <a:r>
                  <a:rPr lang="ru-RU" dirty="0" err="1"/>
                  <a:t>коэф</a:t>
                </a:r>
                <a:r>
                  <a:rPr lang="ru-RU" dirty="0"/>
                  <a:t>. термического расширения при нагреве от 25 до 500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ru-RU" dirty="0"/>
                  <a:t> 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ru-RU" dirty="0"/>
                  <a:t>).</a:t>
                </a:r>
              </a:p>
            </p:txBody>
          </p:sp>
        </mc:Choice>
        <mc:Fallback xmlns="">
          <p:sp>
            <p:nvSpPr>
              <p:cNvPr id="10" name="Подзаголовок 1">
                <a:extLst>
                  <a:ext uri="{FF2B5EF4-FFF2-40B4-BE49-F238E27FC236}">
                    <a16:creationId xmlns:a16="http://schemas.microsoft.com/office/drawing/2014/main" id="{8BBA5D1A-706F-C03C-7CE2-3A3ADE4AE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74" y="4676775"/>
                <a:ext cx="11601450" cy="1091460"/>
              </a:xfrm>
              <a:prstGeom prst="rect">
                <a:avLst/>
              </a:prstGeom>
              <a:blipFill>
                <a:blip r:embed="rId3"/>
                <a:stretch>
                  <a:fillRect l="-683" b="-94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29B7C1-9081-EC35-1F32-F25A91953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5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4245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561382D9-6732-C1B8-71B7-BDD7B75B2B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Формальная постановка задачи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78F68F-5B20-D59F-C113-2F94A6CE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057" y="999087"/>
            <a:ext cx="8965884" cy="5172319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DA4A97-2595-C108-42C3-F173978C5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6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19022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E15D610D-B2D3-A155-0DE6-F69DB55D85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Структура решения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0A2765-473C-F864-0418-8D652F851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12" y="969006"/>
            <a:ext cx="10952373" cy="5232482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7C79825-6659-1D5B-82EF-293B198E1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7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80603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одзаголовок 1">
                <a:extLst>
                  <a:ext uri="{FF2B5EF4-FFF2-40B4-BE49-F238E27FC236}">
                    <a16:creationId xmlns:a16="http://schemas.microsoft.com/office/drawing/2014/main" id="{D5075071-4446-F6A4-DB8E-B46CB31062F7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95276" y="1179723"/>
                <a:ext cx="5712740" cy="481104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b="1" dirty="0">
                    <a:solidFill>
                      <a:srgbClr val="000000"/>
                    </a:solidFill>
                  </a:rPr>
                  <a:t>Дано:</a:t>
                </a:r>
              </a:p>
              <a:p>
                <a:pPr marL="342900" lvl="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составы материалов – представлены в виде векторов из 21 химического элемента, где каждый элемент имеет массовую долю в процентах: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концентрации элементов,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≥60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,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≥10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,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≥0: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=3, 4, …, 21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,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  <m:e>
                        <m:sSub>
                          <m:sSub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342900" lvl="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свойства материалов – представлены в виде векторов из 8 свойств: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значения свойств.</a:t>
                </a:r>
              </a:p>
            </p:txBody>
          </p:sp>
        </mc:Choice>
        <mc:Fallback xmlns="">
          <p:sp>
            <p:nvSpPr>
              <p:cNvPr id="2" name="Подзаголовок 1">
                <a:extLst>
                  <a:ext uri="{FF2B5EF4-FFF2-40B4-BE49-F238E27FC236}">
                    <a16:creationId xmlns:a16="http://schemas.microsoft.com/office/drawing/2014/main" id="{D5075071-4446-F6A4-DB8E-B46CB31062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95276" y="1179723"/>
                <a:ext cx="5712740" cy="4811048"/>
              </a:xfrm>
              <a:blipFill>
                <a:blip r:embed="rId2"/>
                <a:stretch>
                  <a:fillRect l="-1066" t="-760" r="-1066" b="-2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Текст 2">
            <a:extLst>
              <a:ext uri="{FF2B5EF4-FFF2-40B4-BE49-F238E27FC236}">
                <a16:creationId xmlns:a16="http://schemas.microsoft.com/office/drawing/2014/main" id="{B680F597-EEE0-B53F-3257-ED8EAFB57C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Математическая 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одзаголовок 1">
                <a:extLst>
                  <a:ext uri="{FF2B5EF4-FFF2-40B4-BE49-F238E27FC236}">
                    <a16:creationId xmlns:a16="http://schemas.microsoft.com/office/drawing/2014/main" id="{CB09EF6B-B982-3EA2-E8B1-8853C5F81C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3985" y="1179723"/>
                <a:ext cx="5712740" cy="481104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ru-RU" sz="2000" b="1" dirty="0"/>
                  <a:t>Найти: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sz="2000" dirty="0"/>
                  <a:t> – модель – целевая функция, которая переводит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sz="2000" dirty="0"/>
                  <a:t> в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sz="2000" dirty="0"/>
                  <a:t> с минимальной ошибкой: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𝐴𝐸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1257300" lvl="2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𝑀𝐴𝐸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– </a:t>
                </a:r>
                <a:r>
                  <a:rPr lang="ru-RU" dirty="0">
                    <a:solidFill>
                      <a:srgbClr val="000000"/>
                    </a:solidFill>
                  </a:rPr>
                  <a:t>средняя абсолютная ошибка</a:t>
                </a:r>
                <a:r>
                  <a:rPr lang="en-US" dirty="0">
                    <a:solidFill>
                      <a:srgbClr val="000000"/>
                    </a:solidFill>
                  </a:rPr>
                  <a:t>,</a:t>
                </a:r>
                <a:endParaRPr lang="ru-RU" dirty="0">
                  <a:solidFill>
                    <a:srgbClr val="000000"/>
                  </a:solidFill>
                </a:endParaRPr>
              </a:p>
              <a:p>
                <a:pPr marL="1257300" lvl="2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000000"/>
                    </a:solidFill>
                  </a:rPr>
                  <a:t> – реальные значения свойств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</a:rPr>
                  <a:t>-го образца,</a:t>
                </a:r>
              </a:p>
              <a:p>
                <a:pPr marL="1257300" lvl="2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</a:rPr>
                  <a:t> – предсказанные значения свойств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</a:rPr>
                  <a:t>-го образца,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000000"/>
                    </a:solidFill>
                  </a:rPr>
                  <a:t> – состав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</a:rPr>
                  <a:t>-го образца:</a:t>
                </a:r>
              </a:p>
              <a:p>
                <a:pPr marL="1257300" lvl="2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:r>
                  <a:rPr lang="ru-RU" dirty="0">
                    <a:solidFill>
                      <a:srgbClr val="000000"/>
                    </a:solidFill>
                  </a:rPr>
                  <a:t>– количество образцов в обучающей выборке.</a:t>
                </a:r>
              </a:p>
            </p:txBody>
          </p:sp>
        </mc:Choice>
        <mc:Fallback xmlns="">
          <p:sp>
            <p:nvSpPr>
              <p:cNvPr id="9" name="Подзаголовок 1">
                <a:extLst>
                  <a:ext uri="{FF2B5EF4-FFF2-40B4-BE49-F238E27FC236}">
                    <a16:creationId xmlns:a16="http://schemas.microsoft.com/office/drawing/2014/main" id="{CB09EF6B-B982-3EA2-E8B1-8853C5F81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985" y="1179723"/>
                <a:ext cx="5712740" cy="4811048"/>
              </a:xfrm>
              <a:prstGeom prst="rect">
                <a:avLst/>
              </a:prstGeom>
              <a:blipFill>
                <a:blip r:embed="rId3"/>
                <a:stretch>
                  <a:fillRect l="-1066" t="-760" r="-10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A1D54D-4B53-E6EB-4B2D-07FA91979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8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14303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11345EA-F70B-4639-A7DE-CC1F4390C4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Сравнение методов решения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2425F17-7665-FBB1-D33F-F2E379E8C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843464"/>
              </p:ext>
            </p:extLst>
          </p:nvPr>
        </p:nvGraphicFramePr>
        <p:xfrm>
          <a:off x="295274" y="1164485"/>
          <a:ext cx="11601451" cy="4841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211">
                  <a:extLst>
                    <a:ext uri="{9D8B030D-6E8A-4147-A177-3AD203B41FA5}">
                      <a16:colId xmlns:a16="http://schemas.microsoft.com/office/drawing/2014/main" val="1482873619"/>
                    </a:ext>
                  </a:extLst>
                </a:gridCol>
                <a:gridCol w="2667810">
                  <a:extLst>
                    <a:ext uri="{9D8B030D-6E8A-4147-A177-3AD203B41FA5}">
                      <a16:colId xmlns:a16="http://schemas.microsoft.com/office/drawing/2014/main" val="1379349870"/>
                    </a:ext>
                  </a:extLst>
                </a:gridCol>
                <a:gridCol w="2667810">
                  <a:extLst>
                    <a:ext uri="{9D8B030D-6E8A-4147-A177-3AD203B41FA5}">
                      <a16:colId xmlns:a16="http://schemas.microsoft.com/office/drawing/2014/main" val="181000302"/>
                    </a:ext>
                  </a:extLst>
                </a:gridCol>
                <a:gridCol w="2667810">
                  <a:extLst>
                    <a:ext uri="{9D8B030D-6E8A-4147-A177-3AD203B41FA5}">
                      <a16:colId xmlns:a16="http://schemas.microsoft.com/office/drawing/2014/main" val="211315635"/>
                    </a:ext>
                  </a:extLst>
                </a:gridCol>
                <a:gridCol w="2667810">
                  <a:extLst>
                    <a:ext uri="{9D8B030D-6E8A-4147-A177-3AD203B41FA5}">
                      <a16:colId xmlns:a16="http://schemas.microsoft.com/office/drawing/2014/main" val="4264073927"/>
                    </a:ext>
                  </a:extLst>
                </a:gridCol>
              </a:tblGrid>
              <a:tr h="20809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Множественная линейная регрессия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Метод опорных векторов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Случайный лес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</a:rPr>
                        <a:t>Искусственная нейронная сеть</a:t>
                      </a:r>
                    </a:p>
                    <a:p>
                      <a:pPr algn="ctr"/>
                      <a:r>
                        <a:rPr lang="ru-RU" sz="2000" i="1" dirty="0">
                          <a:solidFill>
                            <a:schemeClr val="bg1"/>
                          </a:solidFill>
                        </a:rPr>
                        <a:t>(ВЫБРАН)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071462"/>
                  </a:ext>
                </a:extLst>
              </a:tr>
              <a:tr h="1917842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2A1468"/>
                          </a:solidFill>
                        </a:rPr>
                        <a:t>Преимущества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Интерпретируемость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Простота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Скорость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solidFill>
                            <a:srgbClr val="2A1468"/>
                          </a:solidFill>
                        </a:rPr>
                        <a:t>Гиперпараметры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.</a:t>
                      </a:r>
                      <a:endParaRPr lang="ru-RU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Устойчивость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Ядро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Выпуклость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Простота реализации.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Точность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Устойчивость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Масштабируемость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 err="1">
                          <a:solidFill>
                            <a:srgbClr val="2A1468"/>
                          </a:solidFill>
                        </a:rPr>
                        <a:t>Высокоразмерность</a:t>
                      </a: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.</a:t>
                      </a:r>
                      <a:endParaRPr lang="en-US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Универсальность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Многомерность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Гибкость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Готовые библиотеки.</a:t>
                      </a:r>
                      <a:endParaRPr lang="en-US" sz="1800" dirty="0">
                        <a:solidFill>
                          <a:srgbClr val="2A1468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747080"/>
                  </a:ext>
                </a:extLst>
              </a:tr>
              <a:tr h="1917842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2A1468"/>
                          </a:solidFill>
                        </a:rPr>
                        <a:t>Недостатки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Линейность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Выбросы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ru-RU" sz="1800" dirty="0" err="1">
                          <a:solidFill>
                            <a:srgbClr val="2A1468"/>
                          </a:solidFill>
                        </a:rPr>
                        <a:t>Мультикол</a:t>
                      </a: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-линеарность.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solidFill>
                            <a:srgbClr val="2A1468"/>
                          </a:solidFill>
                        </a:rPr>
                        <a:t>Гиперпараметры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Скорость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Интерпретируемость.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Интерпретируемость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Вычислительная сложность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solidFill>
                            <a:srgbClr val="2A1468"/>
                          </a:solidFill>
                        </a:rPr>
                        <a:t>Гиперпараметры</a:t>
                      </a: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 err="1">
                          <a:solidFill>
                            <a:srgbClr val="2A1468"/>
                          </a:solidFill>
                        </a:rPr>
                        <a:t>Гиперпараметры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Длительность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;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ru-RU" sz="1800" dirty="0">
                          <a:solidFill>
                            <a:srgbClr val="2A1468"/>
                          </a:solidFill>
                        </a:rPr>
                        <a:t>Интерпретируемость</a:t>
                      </a:r>
                      <a:r>
                        <a:rPr lang="en-US" sz="1800" dirty="0">
                          <a:solidFill>
                            <a:srgbClr val="2A1468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976377"/>
                  </a:ext>
                </a:extLst>
              </a:tr>
            </a:tbl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D4C80B-06FF-3794-4286-B0430ACBC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9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665753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одзаголовок 1">
                <a:extLst>
                  <a:ext uri="{FF2B5EF4-FFF2-40B4-BE49-F238E27FC236}">
                    <a16:creationId xmlns:a16="http://schemas.microsoft.com/office/drawing/2014/main" id="{377EB616-C019-C687-6497-2DE8A20EF3BC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pPr lvl="0" indent="457200"/>
                <a:r>
                  <a:rPr lang="ru-RU" dirty="0"/>
                  <a:t>Модель – это ансамбль, состоящий из 8 одинаковых глубоких искусственных нейронных сетей, каждая из которых прогнозирует 1 из 8 свойств. Архитектура нейронной сети: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Входной слой: 21 нейрон – по числу химических элементов;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Скрытый слой: 256 нейронов (функция активации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𝑒𝐿𝑈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𝑟𝑜𝑝𝑜𝑢𝑡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(0.2)</m:t>
                    </m:r>
                  </m:oMath>
                </a14:m>
                <a:r>
                  <a:rPr lang="ru-RU" dirty="0"/>
                  <a:t>);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Скрытый слой: 128 нейронов (функция активации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𝑒𝐿𝑈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𝑟𝑜𝑝𝑜𝑢𝑡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(0.3)</m:t>
                    </m:r>
                  </m:oMath>
                </a14:m>
                <a:r>
                  <a:rPr lang="ru-RU" dirty="0"/>
                  <a:t>);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Скрытый слой: 64 нейрона (функция активации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𝑒𝐿𝑈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𝑟𝑜𝑝𝑜𝑢𝑡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(0.4)</m:t>
                    </m:r>
                  </m:oMath>
                </a14:m>
                <a:r>
                  <a:rPr lang="ru-RU" dirty="0"/>
                  <a:t>);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Скрытый слой: 32 нейрона (функция активации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𝑒𝐿𝑈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𝑟𝑜𝑝𝑜𝑢𝑡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(0.5)</m:t>
                    </m:r>
                  </m:oMath>
                </a14:m>
                <a:r>
                  <a:rPr lang="ru-RU" dirty="0"/>
                  <a:t>);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ru-RU" dirty="0"/>
                  <a:t>Выходной слой: 1 нейрон (линейная активация) – для прогнозирования одного свойства.</a:t>
                </a:r>
              </a:p>
            </p:txBody>
          </p:sp>
        </mc:Choice>
        <mc:Fallback xmlns="">
          <p:sp>
            <p:nvSpPr>
              <p:cNvPr id="2" name="Подзаголовок 1">
                <a:extLst>
                  <a:ext uri="{FF2B5EF4-FFF2-40B4-BE49-F238E27FC236}">
                    <a16:creationId xmlns:a16="http://schemas.microsoft.com/office/drawing/2014/main" id="{377EB616-C019-C687-6497-2DE8A20EF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l="-788" t="-1661" r="-7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Текст 2">
            <a:extLst>
              <a:ext uri="{FF2B5EF4-FFF2-40B4-BE49-F238E27FC236}">
                <a16:creationId xmlns:a16="http://schemas.microsoft.com/office/drawing/2014/main" id="{C1261C9E-C0C0-4572-45A2-28B8C63F8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Архитектура модели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36CBFE-1918-5CCC-0F28-CECEE2ACE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10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5398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978F4-8A7A-BCCA-EFC2-DE7110BF2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одзаголовок 1">
                <a:extLst>
                  <a:ext uri="{FF2B5EF4-FFF2-40B4-BE49-F238E27FC236}">
                    <a16:creationId xmlns:a16="http://schemas.microsoft.com/office/drawing/2014/main" id="{E5E4EE12-D096-DAE9-4D75-61DBFDA2D22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95274" y="1154467"/>
                <a:ext cx="5800725" cy="4861560"/>
              </a:xfrm>
            </p:spPr>
            <p:txBody>
              <a:bodyPr>
                <a:noAutofit/>
              </a:bodyPr>
              <a:lstStyle/>
              <a:p>
                <a:pPr marL="342900" lvl="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Линейная функция активации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взвешенная сумма входных сигналов нейрона; </a:t>
                </a:r>
              </a:p>
              <a:p>
                <a:pPr marL="342900" lvl="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Функция активации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𝑒𝐿𝑈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(0,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взвешенная сумма входных сигналов нейрона; </a:t>
                </a:r>
              </a:p>
              <a:p>
                <a:pPr marL="342900" lvl="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𝑟𝑜𝑝𝑜𝑢𝑡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случайно выключает каждый нейрон слоя с вероятностью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; </a:t>
                </a:r>
              </a:p>
              <a:p>
                <a:pPr marL="342900" lvl="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Оптимизатор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𝐴𝑑𝑎𝑚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корректирует веса нейронов</a:t>
                </a:r>
                <a:r>
                  <a:rPr lang="en-US" sz="2000" dirty="0"/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342900" lvl="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Функция потерь – среднеквадратическая ошибка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где: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– реальные значения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r>
                  <a:rPr lang="ru-RU" sz="200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– предсказанные значения</a:t>
                </a:r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Подзаголовок 1">
                <a:extLst>
                  <a:ext uri="{FF2B5EF4-FFF2-40B4-BE49-F238E27FC236}">
                    <a16:creationId xmlns:a16="http://schemas.microsoft.com/office/drawing/2014/main" id="{E5E4EE12-D096-DAE9-4D75-61DBFDA2D2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95274" y="1154467"/>
                <a:ext cx="5800725" cy="4861560"/>
              </a:xfrm>
              <a:blipFill>
                <a:blip r:embed="rId2"/>
                <a:stretch>
                  <a:fillRect l="-945" t="-627" r="-10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Текст 2">
            <a:extLst>
              <a:ext uri="{FF2B5EF4-FFF2-40B4-BE49-F238E27FC236}">
                <a16:creationId xmlns:a16="http://schemas.microsoft.com/office/drawing/2014/main" id="{0A107434-9C38-9730-D3F0-D4996363B1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Параметры нейронной сети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одзаголовок 1">
                <a:extLst>
                  <a:ext uri="{FF2B5EF4-FFF2-40B4-BE49-F238E27FC236}">
                    <a16:creationId xmlns:a16="http://schemas.microsoft.com/office/drawing/2014/main" id="{CA18E94B-B04F-AB4E-40E9-4C46381E75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99" y="1154467"/>
                <a:ext cx="5800725" cy="486156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Метрика – средняя абсолютная ошибка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𝐴𝐸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;</a:t>
                </a:r>
                <a:endParaRPr lang="ru-RU" sz="2000" dirty="0">
                  <a:solidFill>
                    <a:srgbClr val="000000"/>
                  </a:solidFill>
                </a:endParaRP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Размер </a:t>
                </a:r>
                <a:r>
                  <a:rPr lang="ru-RU" sz="2000" dirty="0" err="1">
                    <a:solidFill>
                      <a:srgbClr val="000000"/>
                    </a:solidFill>
                  </a:rPr>
                  <a:t>батча</a:t>
                </a:r>
                <a:r>
                  <a:rPr lang="ru-RU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𝑎𝑡𝑐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, то есть обучающая выборка разделяется на блоки, содержащие по 32 неповторяющихся образца;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Количество эпох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𝑝𝑜𝑐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нейросеть 100 раз полностью получает обучающую выборку; 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Ранняя остановка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𝑒𝑎𝑟𝑙𝑦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𝑠𝑡𝑜𝑝𝑖𝑛𝑔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останавливает процесс обучения, если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𝑆𝐸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dirty="0">
                    <a:solidFill>
                      <a:srgbClr val="000000"/>
                    </a:solidFill>
                  </a:rPr>
                  <a:t>не улучшилась в течение 20 эпох;</a:t>
                </a:r>
              </a:p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000000"/>
                    </a:solidFill>
                  </a:rPr>
                  <a:t>Разделение </a:t>
                </a:r>
                <a14:m>
                  <m:oMath xmlns:m="http://schemas.openxmlformats.org/officeDocument/2006/math"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𝑎𝑙𝑖𝑑𝑎𝑡𝑖𝑜𝑛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𝑠𝑝𝑙𝑖𝑡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</a:rPr>
                  <a:t> – разделяет обучающею выборку на обучающую и </a:t>
                </a:r>
                <a:r>
                  <a:rPr lang="ru-RU" sz="2000" dirty="0" err="1">
                    <a:solidFill>
                      <a:srgbClr val="000000"/>
                    </a:solidFill>
                  </a:rPr>
                  <a:t>валидационную</a:t>
                </a:r>
                <a:r>
                  <a:rPr lang="ru-RU" sz="2000" dirty="0">
                    <a:solidFill>
                      <a:srgbClr val="000000"/>
                    </a:solidFill>
                  </a:rPr>
                  <a:t> в отношении 80 на 20. </a:t>
                </a:r>
              </a:p>
            </p:txBody>
          </p:sp>
        </mc:Choice>
        <mc:Fallback xmlns="">
          <p:sp>
            <p:nvSpPr>
              <p:cNvPr id="6" name="Подзаголовок 1">
                <a:extLst>
                  <a:ext uri="{FF2B5EF4-FFF2-40B4-BE49-F238E27FC236}">
                    <a16:creationId xmlns:a16="http://schemas.microsoft.com/office/drawing/2014/main" id="{CA18E94B-B04F-AB4E-40E9-4C46381E7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154467"/>
                <a:ext cx="5800725" cy="4861560"/>
              </a:xfrm>
              <a:prstGeom prst="rect">
                <a:avLst/>
              </a:prstGeom>
              <a:blipFill>
                <a:blip r:embed="rId3"/>
                <a:stretch>
                  <a:fillRect l="-945" t="-627" r="-9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CA9F26-A897-BCA4-D807-600542AC9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11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40346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FF9A77F-C3A4-6BC3-7BFE-14175805F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348" y="-1"/>
            <a:ext cx="2818112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22FA084-C443-590B-C595-C7CD76C71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25" y="447258"/>
            <a:ext cx="3743847" cy="596348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49A1C98-8442-A67E-0269-EDCA927D5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072" y="-1"/>
            <a:ext cx="4211856" cy="6858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DFCB781-6C08-6E22-63C0-208C88AD2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12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16443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F801AC-30A9-C65E-10E9-EC9B12D14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2169" y="15851"/>
            <a:ext cx="4662709" cy="682629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D1E1E3-A6AB-30BC-937B-83700670A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006" y="15851"/>
            <a:ext cx="5814994" cy="682629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6A5D6D-52BF-8DB0-D53D-2CF818DD8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13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92138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459660-D19F-C013-6D48-4F4AE91D1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183" y="194811"/>
            <a:ext cx="4048690" cy="64683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D44FA8-20C3-0ED7-D63E-01CD996AA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66" y="0"/>
            <a:ext cx="3959453" cy="6858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A2A02B-2917-73A3-2FCE-33C1A1429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14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42295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80C8F2-5C29-FD69-44D9-C34D2C76E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601" y="0"/>
            <a:ext cx="7108797" cy="6858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ECE9945-13C4-FC6C-98F8-85DE45798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15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07690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CEFAD6B5-5D7B-5F62-4117-7C978987C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indent="457200"/>
            <a:r>
              <a:rPr lang="ru-RU" dirty="0"/>
              <a:t>Разработка ПО осуществлена на «</a:t>
            </a:r>
            <a:r>
              <a:rPr lang="en-US" dirty="0"/>
              <a:t>Python</a:t>
            </a:r>
            <a:r>
              <a:rPr lang="ru-RU" dirty="0"/>
              <a:t>» – высокоуровневом языке, который является одним из самых популярных и востребованных для решения задач машинного обучения и обработки данных: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Предобработка данных: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«</a:t>
            </a:r>
            <a:r>
              <a:rPr lang="en-US" dirty="0">
                <a:solidFill>
                  <a:srgbClr val="000000"/>
                </a:solidFill>
              </a:rPr>
              <a:t>Random</a:t>
            </a:r>
            <a:r>
              <a:rPr lang="ru-RU" dirty="0">
                <a:solidFill>
                  <a:srgbClr val="000000"/>
                </a:solidFill>
              </a:rPr>
              <a:t>»</a:t>
            </a:r>
            <a:r>
              <a:rPr lang="en-US" dirty="0">
                <a:solidFill>
                  <a:srgbClr val="000000"/>
                </a:solidFill>
              </a:rPr>
              <a:t>,</a:t>
            </a:r>
            <a:endParaRPr lang="ru-RU" dirty="0">
              <a:solidFill>
                <a:srgbClr val="000000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«</a:t>
            </a:r>
            <a:r>
              <a:rPr lang="en-US" dirty="0" err="1">
                <a:solidFill>
                  <a:srgbClr val="000000"/>
                </a:solidFill>
              </a:rPr>
              <a:t>OpenPyxl</a:t>
            </a:r>
            <a:r>
              <a:rPr lang="ru-RU" dirty="0">
                <a:solidFill>
                  <a:srgbClr val="000000"/>
                </a:solidFill>
              </a:rPr>
              <a:t>»,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«</a:t>
            </a:r>
            <a:r>
              <a:rPr lang="en-US" dirty="0">
                <a:solidFill>
                  <a:srgbClr val="000000"/>
                </a:solidFill>
              </a:rPr>
              <a:t>Pandas</a:t>
            </a:r>
            <a:r>
              <a:rPr lang="ru-RU" dirty="0">
                <a:solidFill>
                  <a:srgbClr val="000000"/>
                </a:solidFill>
              </a:rPr>
              <a:t>»,</a:t>
            </a:r>
            <a:endParaRPr lang="en-US" dirty="0">
              <a:solidFill>
                <a:srgbClr val="000000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«</a:t>
            </a:r>
            <a:r>
              <a:rPr lang="en-US" dirty="0" err="1">
                <a:solidFill>
                  <a:srgbClr val="000000"/>
                </a:solidFill>
              </a:rPr>
              <a:t>Joblib</a:t>
            </a:r>
            <a:r>
              <a:rPr lang="ru-RU" dirty="0">
                <a:solidFill>
                  <a:srgbClr val="000000"/>
                </a:solidFill>
              </a:rPr>
              <a:t>»,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«</a:t>
            </a:r>
            <a:r>
              <a:rPr lang="en-US" dirty="0">
                <a:solidFill>
                  <a:srgbClr val="000000"/>
                </a:solidFill>
              </a:rPr>
              <a:t>NumPy</a:t>
            </a:r>
            <a:r>
              <a:rPr lang="ru-RU" dirty="0">
                <a:solidFill>
                  <a:srgbClr val="000000"/>
                </a:solidFill>
              </a:rPr>
              <a:t>».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Реализация нейронных сетей: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«</a:t>
            </a:r>
            <a:r>
              <a:rPr lang="ru-RU" dirty="0" err="1">
                <a:solidFill>
                  <a:srgbClr val="000000"/>
                </a:solidFill>
              </a:rPr>
              <a:t>TensorFlow</a:t>
            </a:r>
            <a:r>
              <a:rPr lang="ru-RU" dirty="0">
                <a:solidFill>
                  <a:srgbClr val="000000"/>
                </a:solidFill>
              </a:rPr>
              <a:t>»,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«</a:t>
            </a:r>
            <a:r>
              <a:rPr lang="ru-RU" dirty="0" err="1">
                <a:solidFill>
                  <a:srgbClr val="000000"/>
                </a:solidFill>
              </a:rPr>
              <a:t>Scikit-learn</a:t>
            </a:r>
            <a:r>
              <a:rPr lang="ru-RU" dirty="0">
                <a:solidFill>
                  <a:srgbClr val="000000"/>
                </a:solidFill>
              </a:rPr>
              <a:t>».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Реализация интерфейса: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«</a:t>
            </a:r>
            <a:r>
              <a:rPr lang="en-US" dirty="0" err="1">
                <a:solidFill>
                  <a:srgbClr val="000000"/>
                </a:solidFill>
              </a:rPr>
              <a:t>Tkinter</a:t>
            </a:r>
            <a:r>
              <a:rPr lang="ru-RU">
                <a:solidFill>
                  <a:srgbClr val="000000"/>
                </a:solidFill>
              </a:rPr>
              <a:t>».</a:t>
            </a: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B29772-2E04-A012-BFBA-6ACA10EA24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Стек разработки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5DDB73-A6B8-2B6A-E0AC-8152D45D6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729" y="2000960"/>
            <a:ext cx="1428138" cy="1440000"/>
          </a:xfrm>
          <a:prstGeom prst="rect">
            <a:avLst/>
          </a:prstGeom>
        </p:spPr>
      </p:pic>
      <p:pic>
        <p:nvPicPr>
          <p:cNvPr id="14" name="Рисунок 13" descr="Файл:NumPy logo 2020.svg — Википедия">
            <a:extLst>
              <a:ext uri="{FF2B5EF4-FFF2-40B4-BE49-F238E27FC236}">
                <a16:creationId xmlns:a16="http://schemas.microsoft.com/office/drawing/2014/main" id="{140A0597-4C46-E78A-E774-474E7062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653" y="4871359"/>
            <a:ext cx="3200000" cy="1440000"/>
          </a:xfrm>
          <a:prstGeom prst="rect">
            <a:avLst/>
          </a:prstGeom>
        </p:spPr>
      </p:pic>
      <p:pic>
        <p:nvPicPr>
          <p:cNvPr id="15" name="Рисунок 14" descr="Файл:Pandas logo.svg — Википедия">
            <a:extLst>
              <a:ext uri="{FF2B5EF4-FFF2-40B4-BE49-F238E27FC236}">
                <a16:creationId xmlns:a16="http://schemas.microsoft.com/office/drawing/2014/main" id="{B854DAF6-EE42-E3A2-ABAF-009B236C1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423" y="4871359"/>
            <a:ext cx="3558301" cy="1440000"/>
          </a:xfrm>
          <a:prstGeom prst="rect">
            <a:avLst/>
          </a:prstGeom>
        </p:spPr>
      </p:pic>
      <p:pic>
        <p:nvPicPr>
          <p:cNvPr id="17" name="Рисунок 16" descr="TensorFlow — Википедия">
            <a:extLst>
              <a:ext uri="{FF2B5EF4-FFF2-40B4-BE49-F238E27FC236}">
                <a16:creationId xmlns:a16="http://schemas.microsoft.com/office/drawing/2014/main" id="{B1C6D29F-2F35-4D2B-0210-1D6DDCF84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654" y="3436478"/>
            <a:ext cx="2260558" cy="1440000"/>
          </a:xfrm>
          <a:prstGeom prst="rect">
            <a:avLst/>
          </a:prstGeom>
        </p:spPr>
      </p:pic>
      <p:pic>
        <p:nvPicPr>
          <p:cNvPr id="18" name="Рисунок 17" descr="Файл:Scikit learn logo small.svg — Википедия">
            <a:extLst>
              <a:ext uri="{FF2B5EF4-FFF2-40B4-BE49-F238E27FC236}">
                <a16:creationId xmlns:a16="http://schemas.microsoft.com/office/drawing/2014/main" id="{F0B18D66-1DB0-2798-39BC-D5EB703FB9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243" y="3447456"/>
            <a:ext cx="2667438" cy="1440000"/>
          </a:xfrm>
          <a:prstGeom prst="rect">
            <a:avLst/>
          </a:prstGeom>
        </p:spPr>
      </p:pic>
      <p:pic>
        <p:nvPicPr>
          <p:cNvPr id="19" name="Рисунок 18" descr="Как использовать OpenPyxl в Python для работы с Excel: установка, примеры и  советы">
            <a:extLst>
              <a:ext uri="{FF2B5EF4-FFF2-40B4-BE49-F238E27FC236}">
                <a16:creationId xmlns:a16="http://schemas.microsoft.com/office/drawing/2014/main" id="{2AA0E45E-1256-7516-50A7-81C9600770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681" y="1996478"/>
            <a:ext cx="1440000" cy="1440000"/>
          </a:xfrm>
          <a:prstGeom prst="rect">
            <a:avLst/>
          </a:prstGeom>
        </p:spPr>
      </p:pic>
      <p:pic>
        <p:nvPicPr>
          <p:cNvPr id="20" name="Рисунок 19" descr="joblib · GitHub">
            <a:extLst>
              <a:ext uri="{FF2B5EF4-FFF2-40B4-BE49-F238E27FC236}">
                <a16:creationId xmlns:a16="http://schemas.microsoft.com/office/drawing/2014/main" id="{D3A4AAD4-20F8-B35F-8ACA-353A98256F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2015" y="1996478"/>
            <a:ext cx="1440000" cy="1440000"/>
          </a:xfrm>
          <a:prstGeom prst="rect">
            <a:avLst/>
          </a:prstGeom>
        </p:spPr>
      </p:pic>
      <p:pic>
        <p:nvPicPr>
          <p:cNvPr id="21" name="Рисунок 20" descr="Python Random — генератор случайных чисел с примерами функций random и  randit">
            <a:extLst>
              <a:ext uri="{FF2B5EF4-FFF2-40B4-BE49-F238E27FC236}">
                <a16:creationId xmlns:a16="http://schemas.microsoft.com/office/drawing/2014/main" id="{9063B3F5-AB9A-5BC2-2ED5-04348DECAC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3163" y="1996478"/>
            <a:ext cx="1738430" cy="1440000"/>
          </a:xfrm>
          <a:prstGeom prst="rect">
            <a:avLst/>
          </a:prstGeom>
        </p:spPr>
      </p:pic>
      <p:pic>
        <p:nvPicPr>
          <p:cNvPr id="16" name="Рисунок 15" descr="GUI Programming with Python Tkinter | by Pramodani Jayakodi | Medium">
            <a:extLst>
              <a:ext uri="{FF2B5EF4-FFF2-40B4-BE49-F238E27FC236}">
                <a16:creationId xmlns:a16="http://schemas.microsoft.com/office/drawing/2014/main" id="{FA777764-AAC1-705B-0DEC-990D50084B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3987" y="3447456"/>
            <a:ext cx="2400000" cy="1440000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8E39FB-8991-9B27-1289-852E961F4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16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91011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6D4C601D-5EAF-B0F1-814B-AA344E1EAF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Архитектура ПО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AC59AD-BAEA-E344-5B4D-FAEAE7B3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03" y="1054613"/>
            <a:ext cx="9715992" cy="5114784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2B7D474-4816-ABEE-9F68-10FC8DD04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17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586080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5023D581-D345-4493-69A2-A1B584DB59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036852-94AF-BCB5-8A1A-BBC704048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10" y="1048849"/>
            <a:ext cx="10857378" cy="507279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42AB8-43BD-E3BC-C55F-7EBB243A3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18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59358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8FE22F3-8A0B-D876-91CF-D487CC77C5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Вычислительный эксперимент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536FE4-A7AB-10CC-5F07-7D38092DD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19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2D15407-D80B-59C4-AFB1-1ED5ECD50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4" y="933721"/>
            <a:ext cx="11601451" cy="518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85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3A06AD71-2915-AF8D-E197-48A1D7C94C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В результате выполнения ВКР были решены следующие задачи</a:t>
            </a:r>
            <a:r>
              <a:rPr lang="ru-RU" dirty="0"/>
              <a:t>: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Проведен анализ предметной области и существующих программных решений для прогнозирования свойств композитов: «</a:t>
            </a:r>
            <a:r>
              <a:rPr lang="en-US" dirty="0" err="1"/>
              <a:t>JMatPro</a:t>
            </a:r>
            <a:r>
              <a:rPr lang="ru-RU" dirty="0"/>
              <a:t>», «</a:t>
            </a:r>
            <a:r>
              <a:rPr lang="en-US" dirty="0" err="1"/>
              <a:t>Thermo</a:t>
            </a:r>
            <a:r>
              <a:rPr lang="ru-RU" dirty="0"/>
              <a:t>-</a:t>
            </a:r>
            <a:r>
              <a:rPr lang="en-US" dirty="0"/>
              <a:t>Calc</a:t>
            </a:r>
            <a:r>
              <a:rPr lang="ru-RU" dirty="0"/>
              <a:t>» и «</a:t>
            </a:r>
            <a:r>
              <a:rPr lang="en-US" dirty="0"/>
              <a:t>Ansys GRANTA</a:t>
            </a:r>
            <a:r>
              <a:rPr lang="ru-RU" dirty="0"/>
              <a:t>»; выявлены их ограничения и обусловлена актуальность разработки нового;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Для решения задачи регрессии был проведен анализ таких методов, как: множественная линейная регрессия, метод опорных векторов, случайный лес и искусственная нейронная сеть</a:t>
            </a:r>
            <a:r>
              <a:rPr lang="en-US" dirty="0"/>
              <a:t>. </a:t>
            </a:r>
            <a:r>
              <a:rPr lang="ru-RU" dirty="0"/>
              <a:t>Наиболее подходящим для задачи «состав-свойство» является метод ИНС</a:t>
            </a:r>
            <a:r>
              <a:rPr lang="en-US" dirty="0"/>
              <a:t>;</a:t>
            </a:r>
            <a:endParaRPr lang="ru-RU" dirty="0"/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Разработано алгоритмическое и программное обеспечение ансамбля глубоких ИНС для прогнозирования физико-механических свойств на основе химического состава;</a:t>
            </a:r>
          </a:p>
          <a:p>
            <a:pPr marL="342900" lvl="0" indent="-342900">
              <a:lnSpc>
                <a:spcPct val="100000"/>
              </a:lnSpc>
              <a:buFont typeface="+mj-lt"/>
              <a:buAutoNum type="arabicPeriod"/>
            </a:pPr>
            <a:r>
              <a:rPr lang="ru-RU" dirty="0"/>
              <a:t>Вычислительные эксперименты показали хорошие метрики модели и прогнозов физико-механических свойств, а тестирование и оценка качества разработанного ПО – возможность его применения в исследовательской деятельности.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CC654F-4941-6E5E-FDBD-F9DB9E14B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5A3C0-7730-7724-1B3A-7286D92DD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35AAD1-A493-400F-9DA1-8BA2671D97BC}" type="slidenum">
              <a:rPr lang="ru-RU" smtClean="0"/>
              <a:pPr/>
              <a:t>20</a:t>
            </a:fld>
            <a:r>
              <a:rPr lang="ru-RU"/>
              <a:t> </a:t>
            </a:r>
            <a:r>
              <a:rPr lang="en-US"/>
              <a:t>/ 20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95652962"/>
      </p:ext>
    </p:extLst>
  </p:cSld>
  <p:clrMapOvr>
    <a:masterClrMapping/>
  </p:clrMapOvr>
</p:sld>
</file>

<file path=ppt/theme/theme1.xml><?xml version="1.0" encoding="utf-8"?>
<a:theme xmlns:a="http://schemas.openxmlformats.org/drawingml/2006/main" name="УУНиТ 1">
  <a:themeElements>
    <a:clrScheme name="УУНиТ">
      <a:dk1>
        <a:srgbClr val="2A1468"/>
      </a:dk1>
      <a:lt1>
        <a:srgbClr val="FFFFFF"/>
      </a:lt1>
      <a:dk2>
        <a:srgbClr val="CBB8FF"/>
      </a:dk2>
      <a:lt2>
        <a:srgbClr val="FFFFFF"/>
      </a:lt2>
      <a:accent1>
        <a:srgbClr val="4D19CC"/>
      </a:accent1>
      <a:accent2>
        <a:srgbClr val="C1F26B"/>
      </a:accent2>
      <a:accent3>
        <a:srgbClr val="FFA039"/>
      </a:accent3>
      <a:accent4>
        <a:srgbClr val="EA591F"/>
      </a:accent4>
      <a:accent5>
        <a:srgbClr val="F9D84B"/>
      </a:accent5>
      <a:accent6>
        <a:srgbClr val="00BC7D"/>
      </a:accent6>
      <a:hlink>
        <a:srgbClr val="4D19CC"/>
      </a:hlink>
      <a:folHlink>
        <a:srgbClr val="000000"/>
      </a:folHlink>
    </a:clrScheme>
    <a:fontScheme name="Golos">
      <a:majorFont>
        <a:latin typeface="Golos Text DemiBold"/>
        <a:ea typeface=""/>
        <a:cs typeface=""/>
      </a:majorFont>
      <a:minorFont>
        <a:latin typeface="Golo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1" id="{A615A339-C75B-4587-A9E8-DA5BDFE9C088}" vid="{B02C648B-A09B-4000-B327-CE6C0337626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30175</TotalTime>
  <Words>1220</Words>
  <Application>Microsoft Office PowerPoint</Application>
  <PresentationFormat>Широкоэкранный</PresentationFormat>
  <Paragraphs>182</Paragraphs>
  <Slides>20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Golos Text</vt:lpstr>
      <vt:lpstr>УУНиТ 1</vt:lpstr>
      <vt:lpstr>МАТЕМАТИЧЕСКОЕ И ПРОГРАММНОЕ ОБЕСПЕЧЕНИЕ ДЛЯ ПРОГНОЗИРОВАНИЯ СВОЙСТВ МЕДИЦИНСКИХ КОМПОЗИЦИОННЫХ МАТЕРИАЛОВ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И ПРОГРАММНОЕ ОБЕСПЕЧЕНИЕ СИСТЕМЫ УПРАВЛЕНИЯ ЗАПАСАМИ НА СКЛАДЕ</dc:title>
  <dc:creator>ilinagabbasova1@gmail.com</dc:creator>
  <cp:lastModifiedBy>Maxim Sharigin</cp:lastModifiedBy>
  <cp:revision>101</cp:revision>
  <cp:lastPrinted>2025-06-24T18:47:47Z</cp:lastPrinted>
  <dcterms:created xsi:type="dcterms:W3CDTF">2025-06-06T07:12:10Z</dcterms:created>
  <dcterms:modified xsi:type="dcterms:W3CDTF">2026-06-17T07:38:59Z</dcterms:modified>
</cp:coreProperties>
</file>