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307" r:id="rId3"/>
    <p:sldId id="306" r:id="rId4"/>
    <p:sldId id="314" r:id="rId5"/>
    <p:sldId id="315" r:id="rId6"/>
    <p:sldId id="313" r:id="rId7"/>
    <p:sldId id="308" r:id="rId8"/>
    <p:sldId id="316" r:id="rId9"/>
    <p:sldId id="317" r:id="rId10"/>
    <p:sldId id="318" r:id="rId11"/>
    <p:sldId id="310" r:id="rId12"/>
    <p:sldId id="331" r:id="rId13"/>
    <p:sldId id="320" r:id="rId14"/>
    <p:sldId id="321" r:id="rId15"/>
    <p:sldId id="322" r:id="rId16"/>
    <p:sldId id="325" r:id="rId17"/>
    <p:sldId id="326" r:id="rId18"/>
    <p:sldId id="327" r:id="rId19"/>
    <p:sldId id="328" r:id="rId20"/>
    <p:sldId id="329" r:id="rId21"/>
    <p:sldId id="330" r:id="rId22"/>
    <p:sldId id="312" r:id="rId23"/>
    <p:sldId id="323" r:id="rId24"/>
  </p:sldIdLst>
  <p:sldSz cx="12192000" cy="6858000"/>
  <p:notesSz cx="6761163" cy="988218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3875" autoAdjust="0"/>
  </p:normalViewPr>
  <p:slideViewPr>
    <p:cSldViewPr snapToGrid="0">
      <p:cViewPr varScale="1">
        <p:scale>
          <a:sx n="81" d="100"/>
          <a:sy n="81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58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58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4359DB-E3B5-42B0-BC8D-BB5F2F09E98B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5925" y="1235075"/>
            <a:ext cx="5929313" cy="33353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6117" y="4755803"/>
            <a:ext cx="5408930" cy="38911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86364"/>
            <a:ext cx="2929837" cy="495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29761" y="9386364"/>
            <a:ext cx="2929837" cy="495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53DA2D-DB5D-4448-98AB-C8ABCF716F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1226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C0DFF4-30A0-6641-A1D6-4AD7A6878D0D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068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рисунке представлена динамика оборота розничной торговли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758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24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данном слайде представлены формальная постановка задачи, выполненная в виде контекстной диаграммы в нотации </a:t>
            </a:r>
            <a:r>
              <a:rPr lang="en-US" dirty="0"/>
              <a:t>IDEF0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844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данном слайде представлена структура решения задачи, выполнены в виде декомпозиции контекстной диаграммы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45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8181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  <a:tabLst>
                <a:tab pos="1933575" algn="l"/>
              </a:tabLst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096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  <a:tabLst>
                <a:tab pos="1933575" algn="l"/>
              </a:tabLst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040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  <a:tabLst>
                <a:tab pos="1933575" algn="l"/>
              </a:tabLst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72681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  <a:tabLst>
                <a:tab pos="1933575" algn="l"/>
              </a:tabLst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557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92317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8819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4027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9448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5357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5723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685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6251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9710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1600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2621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200" dirty="0"/>
              <a:t>1. Выполнить анализ предметной области и обзор существующих решений по управлению запасами.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200" dirty="0"/>
              <a:t>2. Провести обзор моделей и методов по управлению запасами и выбрать наиболее подходящую.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200" dirty="0"/>
              <a:t>3. Разработать алгоритмическое и программное обеспечение на платформе 1С.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200" dirty="0"/>
              <a:t>4. Провести вычислительные эксперименты и выполнить оценку качества ПО.</a:t>
            </a:r>
          </a:p>
          <a:p>
            <a:pPr indent="450215" algn="just">
              <a:lnSpc>
                <a:spcPct val="150000"/>
              </a:lnSpc>
              <a:spcAft>
                <a:spcPts val="800"/>
              </a:spcAft>
              <a:tabLst>
                <a:tab pos="1933575" algn="l"/>
              </a:tabLst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7632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олилиния 14"/>
          <p:cNvSpPr/>
          <p:nvPr userDrawn="1"/>
        </p:nvSpPr>
        <p:spPr>
          <a:xfrm rot="10800000">
            <a:off x="764341" y="2162220"/>
            <a:ext cx="9773029" cy="3298738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" fmla="*/ 0 w 902120"/>
              <a:gd name="connsiteY0" fmla="*/ 321495 h 678683"/>
              <a:gd name="connsiteX1" fmla="*/ 0 w 902120"/>
              <a:gd name="connsiteY1" fmla="*/ 614389 h 678683"/>
              <a:gd name="connsiteX2" fmla="*/ 54769 w 902120"/>
              <a:gd name="connsiteY2" fmla="*/ 678683 h 678683"/>
              <a:gd name="connsiteX3" fmla="*/ 840582 w 902120"/>
              <a:gd name="connsiteY3" fmla="*/ 678683 h 678683"/>
              <a:gd name="connsiteX4" fmla="*/ 897732 w 902120"/>
              <a:gd name="connsiteY4" fmla="*/ 621533 h 678683"/>
              <a:gd name="connsiteX5" fmla="*/ 897732 w 902120"/>
              <a:gd name="connsiteY5" fmla="*/ 59558 h 678683"/>
              <a:gd name="connsiteX6" fmla="*/ 828675 w 902120"/>
              <a:gd name="connsiteY6" fmla="*/ 7170 h 678683"/>
              <a:gd name="connsiteX7" fmla="*/ 45244 w 902120"/>
              <a:gd name="connsiteY7" fmla="*/ 269108 h 678683"/>
              <a:gd name="connsiteX8" fmla="*/ 0 w 902120"/>
              <a:gd name="connsiteY8" fmla="*/ 321495 h 678683"/>
              <a:gd name="connsiteX0" fmla="*/ 0 w 903259"/>
              <a:gd name="connsiteY0" fmla="*/ 334803 h 691991"/>
              <a:gd name="connsiteX1" fmla="*/ 0 w 903259"/>
              <a:gd name="connsiteY1" fmla="*/ 627697 h 691991"/>
              <a:gd name="connsiteX2" fmla="*/ 54769 w 903259"/>
              <a:gd name="connsiteY2" fmla="*/ 691991 h 691991"/>
              <a:gd name="connsiteX3" fmla="*/ 840582 w 903259"/>
              <a:gd name="connsiteY3" fmla="*/ 691991 h 691991"/>
              <a:gd name="connsiteX4" fmla="*/ 897732 w 903259"/>
              <a:gd name="connsiteY4" fmla="*/ 634841 h 691991"/>
              <a:gd name="connsiteX5" fmla="*/ 897732 w 903259"/>
              <a:gd name="connsiteY5" fmla="*/ 72866 h 691991"/>
              <a:gd name="connsiteX6" fmla="*/ 828675 w 903259"/>
              <a:gd name="connsiteY6" fmla="*/ 20478 h 691991"/>
              <a:gd name="connsiteX7" fmla="*/ 45244 w 903259"/>
              <a:gd name="connsiteY7" fmla="*/ 282416 h 691991"/>
              <a:gd name="connsiteX8" fmla="*/ 0 w 903259"/>
              <a:gd name="connsiteY8" fmla="*/ 334803 h 691991"/>
              <a:gd name="connsiteX0" fmla="*/ 0 w 902430"/>
              <a:gd name="connsiteY0" fmla="*/ 326084 h 683272"/>
              <a:gd name="connsiteX1" fmla="*/ 0 w 902430"/>
              <a:gd name="connsiteY1" fmla="*/ 618978 h 683272"/>
              <a:gd name="connsiteX2" fmla="*/ 54769 w 902430"/>
              <a:gd name="connsiteY2" fmla="*/ 683272 h 683272"/>
              <a:gd name="connsiteX3" fmla="*/ 840582 w 902430"/>
              <a:gd name="connsiteY3" fmla="*/ 683272 h 683272"/>
              <a:gd name="connsiteX4" fmla="*/ 897732 w 902430"/>
              <a:gd name="connsiteY4" fmla="*/ 626122 h 683272"/>
              <a:gd name="connsiteX5" fmla="*/ 897732 w 902430"/>
              <a:gd name="connsiteY5" fmla="*/ 64147 h 683272"/>
              <a:gd name="connsiteX6" fmla="*/ 828675 w 902430"/>
              <a:gd name="connsiteY6" fmla="*/ 11759 h 683272"/>
              <a:gd name="connsiteX7" fmla="*/ 45244 w 902430"/>
              <a:gd name="connsiteY7" fmla="*/ 273697 h 683272"/>
              <a:gd name="connsiteX8" fmla="*/ 0 w 902430"/>
              <a:gd name="connsiteY8" fmla="*/ 326084 h 683272"/>
              <a:gd name="connsiteX0" fmla="*/ 0 w 898864"/>
              <a:gd name="connsiteY0" fmla="*/ 327341 h 684529"/>
              <a:gd name="connsiteX1" fmla="*/ 0 w 898864"/>
              <a:gd name="connsiteY1" fmla="*/ 620235 h 684529"/>
              <a:gd name="connsiteX2" fmla="*/ 54769 w 898864"/>
              <a:gd name="connsiteY2" fmla="*/ 684529 h 684529"/>
              <a:gd name="connsiteX3" fmla="*/ 840582 w 898864"/>
              <a:gd name="connsiteY3" fmla="*/ 684529 h 684529"/>
              <a:gd name="connsiteX4" fmla="*/ 897732 w 898864"/>
              <a:gd name="connsiteY4" fmla="*/ 627379 h 684529"/>
              <a:gd name="connsiteX5" fmla="*/ 897732 w 898864"/>
              <a:gd name="connsiteY5" fmla="*/ 65404 h 684529"/>
              <a:gd name="connsiteX6" fmla="*/ 828675 w 898864"/>
              <a:gd name="connsiteY6" fmla="*/ 13016 h 684529"/>
              <a:gd name="connsiteX7" fmla="*/ 45244 w 898864"/>
              <a:gd name="connsiteY7" fmla="*/ 274954 h 684529"/>
              <a:gd name="connsiteX8" fmla="*/ 0 w 898864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1654 w 902516"/>
              <a:gd name="connsiteY0" fmla="*/ 327341 h 684529"/>
              <a:gd name="connsiteX1" fmla="*/ 1654 w 902516"/>
              <a:gd name="connsiteY1" fmla="*/ 620235 h 684529"/>
              <a:gd name="connsiteX2" fmla="*/ 56423 w 902516"/>
              <a:gd name="connsiteY2" fmla="*/ 684529 h 684529"/>
              <a:gd name="connsiteX3" fmla="*/ 842236 w 902516"/>
              <a:gd name="connsiteY3" fmla="*/ 684529 h 684529"/>
              <a:gd name="connsiteX4" fmla="*/ 899386 w 902516"/>
              <a:gd name="connsiteY4" fmla="*/ 627379 h 684529"/>
              <a:gd name="connsiteX5" fmla="*/ 899386 w 902516"/>
              <a:gd name="connsiteY5" fmla="*/ 65404 h 684529"/>
              <a:gd name="connsiteX6" fmla="*/ 830329 w 902516"/>
              <a:gd name="connsiteY6" fmla="*/ 13016 h 684529"/>
              <a:gd name="connsiteX7" fmla="*/ 46898 w 902516"/>
              <a:gd name="connsiteY7" fmla="*/ 274954 h 684529"/>
              <a:gd name="connsiteX8" fmla="*/ 1654 w 902516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501 w 901363"/>
              <a:gd name="connsiteY0" fmla="*/ 327341 h 684529"/>
              <a:gd name="connsiteX1" fmla="*/ 501 w 901363"/>
              <a:gd name="connsiteY1" fmla="*/ 620235 h 684529"/>
              <a:gd name="connsiteX2" fmla="*/ 55270 w 901363"/>
              <a:gd name="connsiteY2" fmla="*/ 684529 h 684529"/>
              <a:gd name="connsiteX3" fmla="*/ 841083 w 901363"/>
              <a:gd name="connsiteY3" fmla="*/ 684529 h 684529"/>
              <a:gd name="connsiteX4" fmla="*/ 898233 w 901363"/>
              <a:gd name="connsiteY4" fmla="*/ 627379 h 684529"/>
              <a:gd name="connsiteX5" fmla="*/ 898233 w 901363"/>
              <a:gd name="connsiteY5" fmla="*/ 65404 h 684529"/>
              <a:gd name="connsiteX6" fmla="*/ 829176 w 901363"/>
              <a:gd name="connsiteY6" fmla="*/ 13016 h 684529"/>
              <a:gd name="connsiteX7" fmla="*/ 45745 w 901363"/>
              <a:gd name="connsiteY7" fmla="*/ 274954 h 684529"/>
              <a:gd name="connsiteX8" fmla="*/ 501 w 901363"/>
              <a:gd name="connsiteY8" fmla="*/ 327341 h 684529"/>
              <a:gd name="connsiteX0" fmla="*/ 712 w 901574"/>
              <a:gd name="connsiteY0" fmla="*/ 327341 h 688517"/>
              <a:gd name="connsiteX1" fmla="*/ 712 w 901574"/>
              <a:gd name="connsiteY1" fmla="*/ 620235 h 688517"/>
              <a:gd name="connsiteX2" fmla="*/ 55481 w 901574"/>
              <a:gd name="connsiteY2" fmla="*/ 684529 h 688517"/>
              <a:gd name="connsiteX3" fmla="*/ 841294 w 901574"/>
              <a:gd name="connsiteY3" fmla="*/ 684529 h 688517"/>
              <a:gd name="connsiteX4" fmla="*/ 898444 w 901574"/>
              <a:gd name="connsiteY4" fmla="*/ 627379 h 688517"/>
              <a:gd name="connsiteX5" fmla="*/ 898444 w 901574"/>
              <a:gd name="connsiteY5" fmla="*/ 65404 h 688517"/>
              <a:gd name="connsiteX6" fmla="*/ 829387 w 901574"/>
              <a:gd name="connsiteY6" fmla="*/ 13016 h 688517"/>
              <a:gd name="connsiteX7" fmla="*/ 45956 w 901574"/>
              <a:gd name="connsiteY7" fmla="*/ 274954 h 688517"/>
              <a:gd name="connsiteX8" fmla="*/ 712 w 901574"/>
              <a:gd name="connsiteY8" fmla="*/ 327341 h 688517"/>
              <a:gd name="connsiteX0" fmla="*/ 892 w 901754"/>
              <a:gd name="connsiteY0" fmla="*/ 327341 h 684529"/>
              <a:gd name="connsiteX1" fmla="*/ 892 w 901754"/>
              <a:gd name="connsiteY1" fmla="*/ 620235 h 684529"/>
              <a:gd name="connsiteX2" fmla="*/ 55661 w 901754"/>
              <a:gd name="connsiteY2" fmla="*/ 684529 h 684529"/>
              <a:gd name="connsiteX3" fmla="*/ 841474 w 901754"/>
              <a:gd name="connsiteY3" fmla="*/ 684529 h 684529"/>
              <a:gd name="connsiteX4" fmla="*/ 898624 w 901754"/>
              <a:gd name="connsiteY4" fmla="*/ 627379 h 684529"/>
              <a:gd name="connsiteX5" fmla="*/ 898624 w 901754"/>
              <a:gd name="connsiteY5" fmla="*/ 65404 h 684529"/>
              <a:gd name="connsiteX6" fmla="*/ 829567 w 901754"/>
              <a:gd name="connsiteY6" fmla="*/ 13016 h 684529"/>
              <a:gd name="connsiteX7" fmla="*/ 46136 w 901754"/>
              <a:gd name="connsiteY7" fmla="*/ 274954 h 684529"/>
              <a:gd name="connsiteX8" fmla="*/ 892 w 901754"/>
              <a:gd name="connsiteY8" fmla="*/ 327341 h 684529"/>
              <a:gd name="connsiteX0" fmla="*/ 478 w 901340"/>
              <a:gd name="connsiteY0" fmla="*/ 327341 h 684529"/>
              <a:gd name="connsiteX1" fmla="*/ 478 w 901340"/>
              <a:gd name="connsiteY1" fmla="*/ 620235 h 684529"/>
              <a:gd name="connsiteX2" fmla="*/ 55247 w 901340"/>
              <a:gd name="connsiteY2" fmla="*/ 684529 h 684529"/>
              <a:gd name="connsiteX3" fmla="*/ 841060 w 901340"/>
              <a:gd name="connsiteY3" fmla="*/ 684529 h 684529"/>
              <a:gd name="connsiteX4" fmla="*/ 898210 w 901340"/>
              <a:gd name="connsiteY4" fmla="*/ 627379 h 684529"/>
              <a:gd name="connsiteX5" fmla="*/ 898210 w 901340"/>
              <a:gd name="connsiteY5" fmla="*/ 65404 h 684529"/>
              <a:gd name="connsiteX6" fmla="*/ 829153 w 901340"/>
              <a:gd name="connsiteY6" fmla="*/ 13016 h 684529"/>
              <a:gd name="connsiteX7" fmla="*/ 45722 w 901340"/>
              <a:gd name="connsiteY7" fmla="*/ 274954 h 684529"/>
              <a:gd name="connsiteX8" fmla="*/ 478 w 901340"/>
              <a:gd name="connsiteY8" fmla="*/ 327341 h 684529"/>
              <a:gd name="connsiteX0" fmla="*/ 268 w 901130"/>
              <a:gd name="connsiteY0" fmla="*/ 327341 h 689292"/>
              <a:gd name="connsiteX1" fmla="*/ 268 w 901130"/>
              <a:gd name="connsiteY1" fmla="*/ 620235 h 689292"/>
              <a:gd name="connsiteX2" fmla="*/ 93137 w 901130"/>
              <a:gd name="connsiteY2" fmla="*/ 689292 h 689292"/>
              <a:gd name="connsiteX3" fmla="*/ 840850 w 901130"/>
              <a:gd name="connsiteY3" fmla="*/ 684529 h 689292"/>
              <a:gd name="connsiteX4" fmla="*/ 898000 w 901130"/>
              <a:gd name="connsiteY4" fmla="*/ 627379 h 689292"/>
              <a:gd name="connsiteX5" fmla="*/ 898000 w 901130"/>
              <a:gd name="connsiteY5" fmla="*/ 65404 h 689292"/>
              <a:gd name="connsiteX6" fmla="*/ 828943 w 901130"/>
              <a:gd name="connsiteY6" fmla="*/ 13016 h 689292"/>
              <a:gd name="connsiteX7" fmla="*/ 45512 w 901130"/>
              <a:gd name="connsiteY7" fmla="*/ 274954 h 689292"/>
              <a:gd name="connsiteX8" fmla="*/ 268 w 901130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1075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7750"/>
              <a:gd name="connsiteY0" fmla="*/ 327341 h 689292"/>
              <a:gd name="connsiteX1" fmla="*/ 493 w 907750"/>
              <a:gd name="connsiteY1" fmla="*/ 620235 h 689292"/>
              <a:gd name="connsiteX2" fmla="*/ 93362 w 907750"/>
              <a:gd name="connsiteY2" fmla="*/ 689292 h 689292"/>
              <a:gd name="connsiteX3" fmla="*/ 848219 w 907750"/>
              <a:gd name="connsiteY3" fmla="*/ 684529 h 689292"/>
              <a:gd name="connsiteX4" fmla="*/ 907750 w 907750"/>
              <a:gd name="connsiteY4" fmla="*/ 627379 h 689292"/>
              <a:gd name="connsiteX5" fmla="*/ 898225 w 907750"/>
              <a:gd name="connsiteY5" fmla="*/ 65404 h 689292"/>
              <a:gd name="connsiteX6" fmla="*/ 829168 w 907750"/>
              <a:gd name="connsiteY6" fmla="*/ 13016 h 689292"/>
              <a:gd name="connsiteX7" fmla="*/ 45737 w 907750"/>
              <a:gd name="connsiteY7" fmla="*/ 274954 h 689292"/>
              <a:gd name="connsiteX8" fmla="*/ 493 w 907750"/>
              <a:gd name="connsiteY8" fmla="*/ 327341 h 689292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9294"/>
              <a:gd name="connsiteY0" fmla="*/ 328690 h 690641"/>
              <a:gd name="connsiteX1" fmla="*/ 493 w 909294"/>
              <a:gd name="connsiteY1" fmla="*/ 621584 h 690641"/>
              <a:gd name="connsiteX2" fmla="*/ 93362 w 909294"/>
              <a:gd name="connsiteY2" fmla="*/ 690641 h 690641"/>
              <a:gd name="connsiteX3" fmla="*/ 848219 w 909294"/>
              <a:gd name="connsiteY3" fmla="*/ 685878 h 690641"/>
              <a:gd name="connsiteX4" fmla="*/ 907750 w 909294"/>
              <a:gd name="connsiteY4" fmla="*/ 628728 h 690641"/>
              <a:gd name="connsiteX5" fmla="*/ 898225 w 909294"/>
              <a:gd name="connsiteY5" fmla="*/ 66753 h 690641"/>
              <a:gd name="connsiteX6" fmla="*/ 829168 w 909294"/>
              <a:gd name="connsiteY6" fmla="*/ 14365 h 690641"/>
              <a:gd name="connsiteX7" fmla="*/ 45737 w 909294"/>
              <a:gd name="connsiteY7" fmla="*/ 276303 h 690641"/>
              <a:gd name="connsiteX8" fmla="*/ 493 w 909294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578722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10346"/>
              <a:gd name="connsiteY0" fmla="*/ 328690 h 690641"/>
              <a:gd name="connsiteX1" fmla="*/ 493 w 910346"/>
              <a:gd name="connsiteY1" fmla="*/ 621584 h 690641"/>
              <a:gd name="connsiteX2" fmla="*/ 93362 w 910346"/>
              <a:gd name="connsiteY2" fmla="*/ 690641 h 690641"/>
              <a:gd name="connsiteX3" fmla="*/ 848219 w 910346"/>
              <a:gd name="connsiteY3" fmla="*/ 685878 h 690641"/>
              <a:gd name="connsiteX4" fmla="*/ 907750 w 910346"/>
              <a:gd name="connsiteY4" fmla="*/ 578722 h 690641"/>
              <a:gd name="connsiteX5" fmla="*/ 898225 w 910346"/>
              <a:gd name="connsiteY5" fmla="*/ 66753 h 690641"/>
              <a:gd name="connsiteX6" fmla="*/ 829168 w 910346"/>
              <a:gd name="connsiteY6" fmla="*/ 14365 h 690641"/>
              <a:gd name="connsiteX7" fmla="*/ 45737 w 910346"/>
              <a:gd name="connsiteY7" fmla="*/ 276303 h 690641"/>
              <a:gd name="connsiteX8" fmla="*/ 493 w 910346"/>
              <a:gd name="connsiteY8" fmla="*/ 328690 h 690641"/>
              <a:gd name="connsiteX0" fmla="*/ 493 w 908243"/>
              <a:gd name="connsiteY0" fmla="*/ 328690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28690 h 690641"/>
              <a:gd name="connsiteX0" fmla="*/ 493 w 908243"/>
              <a:gd name="connsiteY0" fmla="*/ 359647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9647 h 690641"/>
              <a:gd name="connsiteX0" fmla="*/ 493 w 908243"/>
              <a:gd name="connsiteY0" fmla="*/ 354885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4885 h 690641"/>
              <a:gd name="connsiteX0" fmla="*/ 1323 w 909073"/>
              <a:gd name="connsiteY0" fmla="*/ 354885 h 690641"/>
              <a:gd name="connsiteX1" fmla="*/ 1323 w 909073"/>
              <a:gd name="connsiteY1" fmla="*/ 621584 h 690641"/>
              <a:gd name="connsiteX2" fmla="*/ 94192 w 909073"/>
              <a:gd name="connsiteY2" fmla="*/ 690641 h 690641"/>
              <a:gd name="connsiteX3" fmla="*/ 849049 w 909073"/>
              <a:gd name="connsiteY3" fmla="*/ 685878 h 690641"/>
              <a:gd name="connsiteX4" fmla="*/ 908580 w 909073"/>
              <a:gd name="connsiteY4" fmla="*/ 578722 h 690641"/>
              <a:gd name="connsiteX5" fmla="*/ 899055 w 909073"/>
              <a:gd name="connsiteY5" fmla="*/ 66753 h 690641"/>
              <a:gd name="connsiteX6" fmla="*/ 829998 w 909073"/>
              <a:gd name="connsiteY6" fmla="*/ 14365 h 690641"/>
              <a:gd name="connsiteX7" fmla="*/ 46567 w 909073"/>
              <a:gd name="connsiteY7" fmla="*/ 276303 h 690641"/>
              <a:gd name="connsiteX8" fmla="*/ 1323 w 909073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1322 w 909072"/>
              <a:gd name="connsiteY0" fmla="*/ 385842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595390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920 w 908670"/>
              <a:gd name="connsiteY0" fmla="*/ 385842 h 690641"/>
              <a:gd name="connsiteX1" fmla="*/ 920 w 908670"/>
              <a:gd name="connsiteY1" fmla="*/ 595390 h 690641"/>
              <a:gd name="connsiteX2" fmla="*/ 93789 w 908670"/>
              <a:gd name="connsiteY2" fmla="*/ 690641 h 690641"/>
              <a:gd name="connsiteX3" fmla="*/ 848646 w 908670"/>
              <a:gd name="connsiteY3" fmla="*/ 685878 h 690641"/>
              <a:gd name="connsiteX4" fmla="*/ 908177 w 908670"/>
              <a:gd name="connsiteY4" fmla="*/ 578722 h 690641"/>
              <a:gd name="connsiteX5" fmla="*/ 898652 w 908670"/>
              <a:gd name="connsiteY5" fmla="*/ 66753 h 690641"/>
              <a:gd name="connsiteX6" fmla="*/ 829595 w 908670"/>
              <a:gd name="connsiteY6" fmla="*/ 14365 h 690641"/>
              <a:gd name="connsiteX7" fmla="*/ 46164 w 908670"/>
              <a:gd name="connsiteY7" fmla="*/ 276303 h 690641"/>
              <a:gd name="connsiteX8" fmla="*/ 920 w 908670"/>
              <a:gd name="connsiteY8" fmla="*/ 385842 h 690641"/>
              <a:gd name="connsiteX0" fmla="*/ 882 w 908632"/>
              <a:gd name="connsiteY0" fmla="*/ 385842 h 694528"/>
              <a:gd name="connsiteX1" fmla="*/ 882 w 908632"/>
              <a:gd name="connsiteY1" fmla="*/ 595390 h 694528"/>
              <a:gd name="connsiteX2" fmla="*/ 93751 w 908632"/>
              <a:gd name="connsiteY2" fmla="*/ 690641 h 694528"/>
              <a:gd name="connsiteX3" fmla="*/ 848608 w 908632"/>
              <a:gd name="connsiteY3" fmla="*/ 685878 h 694528"/>
              <a:gd name="connsiteX4" fmla="*/ 908139 w 908632"/>
              <a:gd name="connsiteY4" fmla="*/ 578722 h 694528"/>
              <a:gd name="connsiteX5" fmla="*/ 898614 w 908632"/>
              <a:gd name="connsiteY5" fmla="*/ 66753 h 694528"/>
              <a:gd name="connsiteX6" fmla="*/ 829557 w 908632"/>
              <a:gd name="connsiteY6" fmla="*/ 14365 h 694528"/>
              <a:gd name="connsiteX7" fmla="*/ 46126 w 908632"/>
              <a:gd name="connsiteY7" fmla="*/ 276303 h 694528"/>
              <a:gd name="connsiteX8" fmla="*/ 882 w 908632"/>
              <a:gd name="connsiteY8" fmla="*/ 385842 h 694528"/>
              <a:gd name="connsiteX0" fmla="*/ 882 w 908632"/>
              <a:gd name="connsiteY0" fmla="*/ 385842 h 691355"/>
              <a:gd name="connsiteX1" fmla="*/ 882 w 908632"/>
              <a:gd name="connsiteY1" fmla="*/ 595390 h 691355"/>
              <a:gd name="connsiteX2" fmla="*/ 93751 w 908632"/>
              <a:gd name="connsiteY2" fmla="*/ 690641 h 691355"/>
              <a:gd name="connsiteX3" fmla="*/ 848608 w 908632"/>
              <a:gd name="connsiteY3" fmla="*/ 685878 h 691355"/>
              <a:gd name="connsiteX4" fmla="*/ 908139 w 908632"/>
              <a:gd name="connsiteY4" fmla="*/ 578722 h 691355"/>
              <a:gd name="connsiteX5" fmla="*/ 898614 w 908632"/>
              <a:gd name="connsiteY5" fmla="*/ 66753 h 691355"/>
              <a:gd name="connsiteX6" fmla="*/ 829557 w 908632"/>
              <a:gd name="connsiteY6" fmla="*/ 14365 h 691355"/>
              <a:gd name="connsiteX7" fmla="*/ 46126 w 908632"/>
              <a:gd name="connsiteY7" fmla="*/ 276303 h 691355"/>
              <a:gd name="connsiteX8" fmla="*/ 882 w 908632"/>
              <a:gd name="connsiteY8" fmla="*/ 385842 h 691355"/>
              <a:gd name="connsiteX0" fmla="*/ 882 w 908632"/>
              <a:gd name="connsiteY0" fmla="*/ 385842 h 690641"/>
              <a:gd name="connsiteX1" fmla="*/ 882 w 908632"/>
              <a:gd name="connsiteY1" fmla="*/ 595390 h 690641"/>
              <a:gd name="connsiteX2" fmla="*/ 93751 w 908632"/>
              <a:gd name="connsiteY2" fmla="*/ 690641 h 690641"/>
              <a:gd name="connsiteX3" fmla="*/ 848608 w 908632"/>
              <a:gd name="connsiteY3" fmla="*/ 685878 h 690641"/>
              <a:gd name="connsiteX4" fmla="*/ 908139 w 908632"/>
              <a:gd name="connsiteY4" fmla="*/ 578722 h 690641"/>
              <a:gd name="connsiteX5" fmla="*/ 898614 w 908632"/>
              <a:gd name="connsiteY5" fmla="*/ 66753 h 690641"/>
              <a:gd name="connsiteX6" fmla="*/ 829557 w 908632"/>
              <a:gd name="connsiteY6" fmla="*/ 14365 h 690641"/>
              <a:gd name="connsiteX7" fmla="*/ 46126 w 908632"/>
              <a:gd name="connsiteY7" fmla="*/ 276303 h 690641"/>
              <a:gd name="connsiteX8" fmla="*/ 882 w 908632"/>
              <a:gd name="connsiteY8" fmla="*/ 385842 h 690641"/>
              <a:gd name="connsiteX0" fmla="*/ 655 w 908405"/>
              <a:gd name="connsiteY0" fmla="*/ 385842 h 690641"/>
              <a:gd name="connsiteX1" fmla="*/ 655 w 908405"/>
              <a:gd name="connsiteY1" fmla="*/ 595390 h 690641"/>
              <a:gd name="connsiteX2" fmla="*/ 112574 w 908405"/>
              <a:gd name="connsiteY2" fmla="*/ 690641 h 690641"/>
              <a:gd name="connsiteX3" fmla="*/ 848381 w 908405"/>
              <a:gd name="connsiteY3" fmla="*/ 685878 h 690641"/>
              <a:gd name="connsiteX4" fmla="*/ 907912 w 908405"/>
              <a:gd name="connsiteY4" fmla="*/ 578722 h 690641"/>
              <a:gd name="connsiteX5" fmla="*/ 898387 w 908405"/>
              <a:gd name="connsiteY5" fmla="*/ 66753 h 690641"/>
              <a:gd name="connsiteX6" fmla="*/ 829330 w 908405"/>
              <a:gd name="connsiteY6" fmla="*/ 14365 h 690641"/>
              <a:gd name="connsiteX7" fmla="*/ 45899 w 908405"/>
              <a:gd name="connsiteY7" fmla="*/ 276303 h 690641"/>
              <a:gd name="connsiteX8" fmla="*/ 655 w 908405"/>
              <a:gd name="connsiteY8" fmla="*/ 385842 h 690641"/>
              <a:gd name="connsiteX0" fmla="*/ 807 w 908557"/>
              <a:gd name="connsiteY0" fmla="*/ 385842 h 692203"/>
              <a:gd name="connsiteX1" fmla="*/ 807 w 908557"/>
              <a:gd name="connsiteY1" fmla="*/ 595390 h 692203"/>
              <a:gd name="connsiteX2" fmla="*/ 112726 w 908557"/>
              <a:gd name="connsiteY2" fmla="*/ 690641 h 692203"/>
              <a:gd name="connsiteX3" fmla="*/ 848533 w 908557"/>
              <a:gd name="connsiteY3" fmla="*/ 685878 h 692203"/>
              <a:gd name="connsiteX4" fmla="*/ 908064 w 908557"/>
              <a:gd name="connsiteY4" fmla="*/ 578722 h 692203"/>
              <a:gd name="connsiteX5" fmla="*/ 898539 w 908557"/>
              <a:gd name="connsiteY5" fmla="*/ 66753 h 692203"/>
              <a:gd name="connsiteX6" fmla="*/ 829482 w 908557"/>
              <a:gd name="connsiteY6" fmla="*/ 14365 h 692203"/>
              <a:gd name="connsiteX7" fmla="*/ 46051 w 908557"/>
              <a:gd name="connsiteY7" fmla="*/ 276303 h 692203"/>
              <a:gd name="connsiteX8" fmla="*/ 807 w 908557"/>
              <a:gd name="connsiteY8" fmla="*/ 385842 h 692203"/>
              <a:gd name="connsiteX0" fmla="*/ 699 w 908449"/>
              <a:gd name="connsiteY0" fmla="*/ 385842 h 692203"/>
              <a:gd name="connsiteX1" fmla="*/ 699 w 908449"/>
              <a:gd name="connsiteY1" fmla="*/ 595390 h 692203"/>
              <a:gd name="connsiteX2" fmla="*/ 112618 w 908449"/>
              <a:gd name="connsiteY2" fmla="*/ 690641 h 692203"/>
              <a:gd name="connsiteX3" fmla="*/ 848425 w 908449"/>
              <a:gd name="connsiteY3" fmla="*/ 685878 h 692203"/>
              <a:gd name="connsiteX4" fmla="*/ 907956 w 908449"/>
              <a:gd name="connsiteY4" fmla="*/ 578722 h 692203"/>
              <a:gd name="connsiteX5" fmla="*/ 898431 w 908449"/>
              <a:gd name="connsiteY5" fmla="*/ 66753 h 692203"/>
              <a:gd name="connsiteX6" fmla="*/ 829374 w 908449"/>
              <a:gd name="connsiteY6" fmla="*/ 14365 h 692203"/>
              <a:gd name="connsiteX7" fmla="*/ 45943 w 908449"/>
              <a:gd name="connsiteY7" fmla="*/ 276303 h 692203"/>
              <a:gd name="connsiteX8" fmla="*/ 699 w 908449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0534"/>
              <a:gd name="connsiteY0" fmla="*/ 386399 h 692760"/>
              <a:gd name="connsiteX1" fmla="*/ 699 w 910534"/>
              <a:gd name="connsiteY1" fmla="*/ 595947 h 692760"/>
              <a:gd name="connsiteX2" fmla="*/ 112618 w 910534"/>
              <a:gd name="connsiteY2" fmla="*/ 691198 h 692760"/>
              <a:gd name="connsiteX3" fmla="*/ 848425 w 910534"/>
              <a:gd name="connsiteY3" fmla="*/ 686435 h 692760"/>
              <a:gd name="connsiteX4" fmla="*/ 907956 w 910534"/>
              <a:gd name="connsiteY4" fmla="*/ 579279 h 692760"/>
              <a:gd name="connsiteX5" fmla="*/ 910534 w 910534"/>
              <a:gd name="connsiteY5" fmla="*/ 67310 h 692760"/>
              <a:gd name="connsiteX6" fmla="*/ 829374 w 910534"/>
              <a:gd name="connsiteY6" fmla="*/ 14922 h 692760"/>
              <a:gd name="connsiteX7" fmla="*/ 45943 w 910534"/>
              <a:gd name="connsiteY7" fmla="*/ 276860 h 692760"/>
              <a:gd name="connsiteX8" fmla="*/ 699 w 910534"/>
              <a:gd name="connsiteY8" fmla="*/ 386399 h 692760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264 w 910099"/>
              <a:gd name="connsiteY0" fmla="*/ 384791 h 691326"/>
              <a:gd name="connsiteX1" fmla="*/ 264 w 910099"/>
              <a:gd name="connsiteY1" fmla="*/ 594339 h 691326"/>
              <a:gd name="connsiteX2" fmla="*/ 112183 w 910099"/>
              <a:gd name="connsiteY2" fmla="*/ 689590 h 691326"/>
              <a:gd name="connsiteX3" fmla="*/ 847990 w 910099"/>
              <a:gd name="connsiteY3" fmla="*/ 684827 h 691326"/>
              <a:gd name="connsiteX4" fmla="*/ 907521 w 910099"/>
              <a:gd name="connsiteY4" fmla="*/ 577671 h 691326"/>
              <a:gd name="connsiteX5" fmla="*/ 910099 w 910099"/>
              <a:gd name="connsiteY5" fmla="*/ 65702 h 691326"/>
              <a:gd name="connsiteX6" fmla="*/ 828939 w 910099"/>
              <a:gd name="connsiteY6" fmla="*/ 13314 h 691326"/>
              <a:gd name="connsiteX7" fmla="*/ 45508 w 910099"/>
              <a:gd name="connsiteY7" fmla="*/ 275252 h 691326"/>
              <a:gd name="connsiteX8" fmla="*/ 264 w 910099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365 w 910200"/>
              <a:gd name="connsiteY0" fmla="*/ 384791 h 691326"/>
              <a:gd name="connsiteX1" fmla="*/ 365 w 910200"/>
              <a:gd name="connsiteY1" fmla="*/ 594339 h 691326"/>
              <a:gd name="connsiteX2" fmla="*/ 112284 w 910200"/>
              <a:gd name="connsiteY2" fmla="*/ 689590 h 691326"/>
              <a:gd name="connsiteX3" fmla="*/ 848091 w 910200"/>
              <a:gd name="connsiteY3" fmla="*/ 684827 h 691326"/>
              <a:gd name="connsiteX4" fmla="*/ 907622 w 910200"/>
              <a:gd name="connsiteY4" fmla="*/ 577671 h 691326"/>
              <a:gd name="connsiteX5" fmla="*/ 910200 w 910200"/>
              <a:gd name="connsiteY5" fmla="*/ 65702 h 691326"/>
              <a:gd name="connsiteX6" fmla="*/ 829040 w 910200"/>
              <a:gd name="connsiteY6" fmla="*/ 13314 h 691326"/>
              <a:gd name="connsiteX7" fmla="*/ 45609 w 910200"/>
              <a:gd name="connsiteY7" fmla="*/ 275252 h 691326"/>
              <a:gd name="connsiteX8" fmla="*/ 365 w 910200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88231"/>
              <a:gd name="connsiteX1" fmla="*/ 0 w 909835"/>
              <a:gd name="connsiteY1" fmla="*/ 594339 h 688231"/>
              <a:gd name="connsiteX2" fmla="*/ 61184 w 909835"/>
              <a:gd name="connsiteY2" fmla="*/ 685911 h 688231"/>
              <a:gd name="connsiteX3" fmla="*/ 847726 w 909835"/>
              <a:gd name="connsiteY3" fmla="*/ 684827 h 688231"/>
              <a:gd name="connsiteX4" fmla="*/ 907257 w 909835"/>
              <a:gd name="connsiteY4" fmla="*/ 577671 h 688231"/>
              <a:gd name="connsiteX5" fmla="*/ 909835 w 909835"/>
              <a:gd name="connsiteY5" fmla="*/ 65702 h 688231"/>
              <a:gd name="connsiteX6" fmla="*/ 828675 w 909835"/>
              <a:gd name="connsiteY6" fmla="*/ 13314 h 688231"/>
              <a:gd name="connsiteX7" fmla="*/ 45244 w 909835"/>
              <a:gd name="connsiteY7" fmla="*/ 275252 h 688231"/>
              <a:gd name="connsiteX8" fmla="*/ 0 w 909835"/>
              <a:gd name="connsiteY8" fmla="*/ 384791 h 688231"/>
              <a:gd name="connsiteX0" fmla="*/ 0 w 909835"/>
              <a:gd name="connsiteY0" fmla="*/ 384791 h 685911"/>
              <a:gd name="connsiteX1" fmla="*/ 0 w 909835"/>
              <a:gd name="connsiteY1" fmla="*/ 594339 h 685911"/>
              <a:gd name="connsiteX2" fmla="*/ 61184 w 909835"/>
              <a:gd name="connsiteY2" fmla="*/ 685911 h 685911"/>
              <a:gd name="connsiteX3" fmla="*/ 847726 w 909835"/>
              <a:gd name="connsiteY3" fmla="*/ 684827 h 685911"/>
              <a:gd name="connsiteX4" fmla="*/ 907257 w 909835"/>
              <a:gd name="connsiteY4" fmla="*/ 577671 h 685911"/>
              <a:gd name="connsiteX5" fmla="*/ 909835 w 909835"/>
              <a:gd name="connsiteY5" fmla="*/ 65702 h 685911"/>
              <a:gd name="connsiteX6" fmla="*/ 828675 w 909835"/>
              <a:gd name="connsiteY6" fmla="*/ 13314 h 685911"/>
              <a:gd name="connsiteX7" fmla="*/ 45244 w 909835"/>
              <a:gd name="connsiteY7" fmla="*/ 275252 h 685911"/>
              <a:gd name="connsiteX8" fmla="*/ 0 w 909835"/>
              <a:gd name="connsiteY8" fmla="*/ 384791 h 685911"/>
              <a:gd name="connsiteX0" fmla="*/ 1990 w 911825"/>
              <a:gd name="connsiteY0" fmla="*/ 384791 h 685911"/>
              <a:gd name="connsiteX1" fmla="*/ 1990 w 911825"/>
              <a:gd name="connsiteY1" fmla="*/ 594339 h 685911"/>
              <a:gd name="connsiteX2" fmla="*/ 63174 w 911825"/>
              <a:gd name="connsiteY2" fmla="*/ 685911 h 685911"/>
              <a:gd name="connsiteX3" fmla="*/ 849716 w 911825"/>
              <a:gd name="connsiteY3" fmla="*/ 684827 h 685911"/>
              <a:gd name="connsiteX4" fmla="*/ 909247 w 911825"/>
              <a:gd name="connsiteY4" fmla="*/ 577671 h 685911"/>
              <a:gd name="connsiteX5" fmla="*/ 911825 w 911825"/>
              <a:gd name="connsiteY5" fmla="*/ 65702 h 685911"/>
              <a:gd name="connsiteX6" fmla="*/ 830665 w 911825"/>
              <a:gd name="connsiteY6" fmla="*/ 13314 h 685911"/>
              <a:gd name="connsiteX7" fmla="*/ 35396 w 911825"/>
              <a:gd name="connsiteY7" fmla="*/ 282118 h 685911"/>
              <a:gd name="connsiteX8" fmla="*/ 1990 w 911825"/>
              <a:gd name="connsiteY8" fmla="*/ 384791 h 685911"/>
              <a:gd name="connsiteX0" fmla="*/ 0 w 909835"/>
              <a:gd name="connsiteY0" fmla="*/ 384791 h 685911"/>
              <a:gd name="connsiteX1" fmla="*/ 0 w 909835"/>
              <a:gd name="connsiteY1" fmla="*/ 594339 h 685911"/>
              <a:gd name="connsiteX2" fmla="*/ 61184 w 909835"/>
              <a:gd name="connsiteY2" fmla="*/ 685911 h 685911"/>
              <a:gd name="connsiteX3" fmla="*/ 847726 w 909835"/>
              <a:gd name="connsiteY3" fmla="*/ 684827 h 685911"/>
              <a:gd name="connsiteX4" fmla="*/ 907257 w 909835"/>
              <a:gd name="connsiteY4" fmla="*/ 577671 h 685911"/>
              <a:gd name="connsiteX5" fmla="*/ 909835 w 909835"/>
              <a:gd name="connsiteY5" fmla="*/ 65702 h 685911"/>
              <a:gd name="connsiteX6" fmla="*/ 828675 w 909835"/>
              <a:gd name="connsiteY6" fmla="*/ 13314 h 685911"/>
              <a:gd name="connsiteX7" fmla="*/ 33406 w 909835"/>
              <a:gd name="connsiteY7" fmla="*/ 282118 h 685911"/>
              <a:gd name="connsiteX8" fmla="*/ 0 w 909835"/>
              <a:gd name="connsiteY8" fmla="*/ 384791 h 685911"/>
              <a:gd name="connsiteX0" fmla="*/ 0 w 909835"/>
              <a:gd name="connsiteY0" fmla="*/ 388112 h 689232"/>
              <a:gd name="connsiteX1" fmla="*/ 0 w 909835"/>
              <a:gd name="connsiteY1" fmla="*/ 597660 h 689232"/>
              <a:gd name="connsiteX2" fmla="*/ 61184 w 909835"/>
              <a:gd name="connsiteY2" fmla="*/ 689232 h 689232"/>
              <a:gd name="connsiteX3" fmla="*/ 847726 w 909835"/>
              <a:gd name="connsiteY3" fmla="*/ 688148 h 689232"/>
              <a:gd name="connsiteX4" fmla="*/ 907257 w 909835"/>
              <a:gd name="connsiteY4" fmla="*/ 580992 h 689232"/>
              <a:gd name="connsiteX5" fmla="*/ 909835 w 909835"/>
              <a:gd name="connsiteY5" fmla="*/ 69023 h 689232"/>
              <a:gd name="connsiteX6" fmla="*/ 851612 w 909835"/>
              <a:gd name="connsiteY6" fmla="*/ 11485 h 689232"/>
              <a:gd name="connsiteX7" fmla="*/ 33406 w 909835"/>
              <a:gd name="connsiteY7" fmla="*/ 285439 h 689232"/>
              <a:gd name="connsiteX8" fmla="*/ 0 w 909835"/>
              <a:gd name="connsiteY8" fmla="*/ 388112 h 689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9835" h="689232">
                <a:moveTo>
                  <a:pt x="0" y="388112"/>
                </a:moveTo>
                <a:lnTo>
                  <a:pt x="0" y="597660"/>
                </a:lnTo>
                <a:cubicBezTo>
                  <a:pt x="314" y="708613"/>
                  <a:pt x="1707" y="683031"/>
                  <a:pt x="61184" y="689232"/>
                </a:cubicBezTo>
                <a:lnTo>
                  <a:pt x="847726" y="688148"/>
                </a:lnTo>
                <a:cubicBezTo>
                  <a:pt x="914024" y="696683"/>
                  <a:pt x="907077" y="646519"/>
                  <a:pt x="907257" y="580992"/>
                </a:cubicBezTo>
                <a:cubicBezTo>
                  <a:pt x="908116" y="410336"/>
                  <a:pt x="908976" y="239679"/>
                  <a:pt x="909835" y="69023"/>
                </a:cubicBezTo>
                <a:cubicBezTo>
                  <a:pt x="909889" y="-19382"/>
                  <a:pt x="896982" y="-2998"/>
                  <a:pt x="851612" y="11485"/>
                </a:cubicBezTo>
                <a:lnTo>
                  <a:pt x="33406" y="285439"/>
                </a:lnTo>
                <a:cubicBezTo>
                  <a:pt x="-5008" y="299234"/>
                  <a:pt x="701" y="316090"/>
                  <a:pt x="0" y="388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олилиния 15"/>
          <p:cNvSpPr/>
          <p:nvPr userDrawn="1"/>
        </p:nvSpPr>
        <p:spPr>
          <a:xfrm>
            <a:off x="4730750" y="1217017"/>
            <a:ext cx="6781800" cy="2192335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" fmla="*/ 0 w 902120"/>
              <a:gd name="connsiteY0" fmla="*/ 321495 h 678683"/>
              <a:gd name="connsiteX1" fmla="*/ 0 w 902120"/>
              <a:gd name="connsiteY1" fmla="*/ 614389 h 678683"/>
              <a:gd name="connsiteX2" fmla="*/ 54769 w 902120"/>
              <a:gd name="connsiteY2" fmla="*/ 678683 h 678683"/>
              <a:gd name="connsiteX3" fmla="*/ 840582 w 902120"/>
              <a:gd name="connsiteY3" fmla="*/ 678683 h 678683"/>
              <a:gd name="connsiteX4" fmla="*/ 897732 w 902120"/>
              <a:gd name="connsiteY4" fmla="*/ 621533 h 678683"/>
              <a:gd name="connsiteX5" fmla="*/ 897732 w 902120"/>
              <a:gd name="connsiteY5" fmla="*/ 59558 h 678683"/>
              <a:gd name="connsiteX6" fmla="*/ 828675 w 902120"/>
              <a:gd name="connsiteY6" fmla="*/ 7170 h 678683"/>
              <a:gd name="connsiteX7" fmla="*/ 45244 w 902120"/>
              <a:gd name="connsiteY7" fmla="*/ 269108 h 678683"/>
              <a:gd name="connsiteX8" fmla="*/ 0 w 902120"/>
              <a:gd name="connsiteY8" fmla="*/ 321495 h 678683"/>
              <a:gd name="connsiteX0" fmla="*/ 0 w 903259"/>
              <a:gd name="connsiteY0" fmla="*/ 334803 h 691991"/>
              <a:gd name="connsiteX1" fmla="*/ 0 w 903259"/>
              <a:gd name="connsiteY1" fmla="*/ 627697 h 691991"/>
              <a:gd name="connsiteX2" fmla="*/ 54769 w 903259"/>
              <a:gd name="connsiteY2" fmla="*/ 691991 h 691991"/>
              <a:gd name="connsiteX3" fmla="*/ 840582 w 903259"/>
              <a:gd name="connsiteY3" fmla="*/ 691991 h 691991"/>
              <a:gd name="connsiteX4" fmla="*/ 897732 w 903259"/>
              <a:gd name="connsiteY4" fmla="*/ 634841 h 691991"/>
              <a:gd name="connsiteX5" fmla="*/ 897732 w 903259"/>
              <a:gd name="connsiteY5" fmla="*/ 72866 h 691991"/>
              <a:gd name="connsiteX6" fmla="*/ 828675 w 903259"/>
              <a:gd name="connsiteY6" fmla="*/ 20478 h 691991"/>
              <a:gd name="connsiteX7" fmla="*/ 45244 w 903259"/>
              <a:gd name="connsiteY7" fmla="*/ 282416 h 691991"/>
              <a:gd name="connsiteX8" fmla="*/ 0 w 903259"/>
              <a:gd name="connsiteY8" fmla="*/ 334803 h 691991"/>
              <a:gd name="connsiteX0" fmla="*/ 0 w 902430"/>
              <a:gd name="connsiteY0" fmla="*/ 326084 h 683272"/>
              <a:gd name="connsiteX1" fmla="*/ 0 w 902430"/>
              <a:gd name="connsiteY1" fmla="*/ 618978 h 683272"/>
              <a:gd name="connsiteX2" fmla="*/ 54769 w 902430"/>
              <a:gd name="connsiteY2" fmla="*/ 683272 h 683272"/>
              <a:gd name="connsiteX3" fmla="*/ 840582 w 902430"/>
              <a:gd name="connsiteY3" fmla="*/ 683272 h 683272"/>
              <a:gd name="connsiteX4" fmla="*/ 897732 w 902430"/>
              <a:gd name="connsiteY4" fmla="*/ 626122 h 683272"/>
              <a:gd name="connsiteX5" fmla="*/ 897732 w 902430"/>
              <a:gd name="connsiteY5" fmla="*/ 64147 h 683272"/>
              <a:gd name="connsiteX6" fmla="*/ 828675 w 902430"/>
              <a:gd name="connsiteY6" fmla="*/ 11759 h 683272"/>
              <a:gd name="connsiteX7" fmla="*/ 45244 w 902430"/>
              <a:gd name="connsiteY7" fmla="*/ 273697 h 683272"/>
              <a:gd name="connsiteX8" fmla="*/ 0 w 902430"/>
              <a:gd name="connsiteY8" fmla="*/ 326084 h 683272"/>
              <a:gd name="connsiteX0" fmla="*/ 0 w 898864"/>
              <a:gd name="connsiteY0" fmla="*/ 327341 h 684529"/>
              <a:gd name="connsiteX1" fmla="*/ 0 w 898864"/>
              <a:gd name="connsiteY1" fmla="*/ 620235 h 684529"/>
              <a:gd name="connsiteX2" fmla="*/ 54769 w 898864"/>
              <a:gd name="connsiteY2" fmla="*/ 684529 h 684529"/>
              <a:gd name="connsiteX3" fmla="*/ 840582 w 898864"/>
              <a:gd name="connsiteY3" fmla="*/ 684529 h 684529"/>
              <a:gd name="connsiteX4" fmla="*/ 897732 w 898864"/>
              <a:gd name="connsiteY4" fmla="*/ 627379 h 684529"/>
              <a:gd name="connsiteX5" fmla="*/ 897732 w 898864"/>
              <a:gd name="connsiteY5" fmla="*/ 65404 h 684529"/>
              <a:gd name="connsiteX6" fmla="*/ 828675 w 898864"/>
              <a:gd name="connsiteY6" fmla="*/ 13016 h 684529"/>
              <a:gd name="connsiteX7" fmla="*/ 45244 w 898864"/>
              <a:gd name="connsiteY7" fmla="*/ 274954 h 684529"/>
              <a:gd name="connsiteX8" fmla="*/ 0 w 898864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1654 w 902516"/>
              <a:gd name="connsiteY0" fmla="*/ 327341 h 684529"/>
              <a:gd name="connsiteX1" fmla="*/ 1654 w 902516"/>
              <a:gd name="connsiteY1" fmla="*/ 620235 h 684529"/>
              <a:gd name="connsiteX2" fmla="*/ 56423 w 902516"/>
              <a:gd name="connsiteY2" fmla="*/ 684529 h 684529"/>
              <a:gd name="connsiteX3" fmla="*/ 842236 w 902516"/>
              <a:gd name="connsiteY3" fmla="*/ 684529 h 684529"/>
              <a:gd name="connsiteX4" fmla="*/ 899386 w 902516"/>
              <a:gd name="connsiteY4" fmla="*/ 627379 h 684529"/>
              <a:gd name="connsiteX5" fmla="*/ 899386 w 902516"/>
              <a:gd name="connsiteY5" fmla="*/ 65404 h 684529"/>
              <a:gd name="connsiteX6" fmla="*/ 830329 w 902516"/>
              <a:gd name="connsiteY6" fmla="*/ 13016 h 684529"/>
              <a:gd name="connsiteX7" fmla="*/ 46898 w 902516"/>
              <a:gd name="connsiteY7" fmla="*/ 274954 h 684529"/>
              <a:gd name="connsiteX8" fmla="*/ 1654 w 902516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501 w 901363"/>
              <a:gd name="connsiteY0" fmla="*/ 327341 h 684529"/>
              <a:gd name="connsiteX1" fmla="*/ 501 w 901363"/>
              <a:gd name="connsiteY1" fmla="*/ 620235 h 684529"/>
              <a:gd name="connsiteX2" fmla="*/ 55270 w 901363"/>
              <a:gd name="connsiteY2" fmla="*/ 684529 h 684529"/>
              <a:gd name="connsiteX3" fmla="*/ 841083 w 901363"/>
              <a:gd name="connsiteY3" fmla="*/ 684529 h 684529"/>
              <a:gd name="connsiteX4" fmla="*/ 898233 w 901363"/>
              <a:gd name="connsiteY4" fmla="*/ 627379 h 684529"/>
              <a:gd name="connsiteX5" fmla="*/ 898233 w 901363"/>
              <a:gd name="connsiteY5" fmla="*/ 65404 h 684529"/>
              <a:gd name="connsiteX6" fmla="*/ 829176 w 901363"/>
              <a:gd name="connsiteY6" fmla="*/ 13016 h 684529"/>
              <a:gd name="connsiteX7" fmla="*/ 45745 w 901363"/>
              <a:gd name="connsiteY7" fmla="*/ 274954 h 684529"/>
              <a:gd name="connsiteX8" fmla="*/ 501 w 901363"/>
              <a:gd name="connsiteY8" fmla="*/ 327341 h 684529"/>
              <a:gd name="connsiteX0" fmla="*/ 712 w 901574"/>
              <a:gd name="connsiteY0" fmla="*/ 327341 h 688517"/>
              <a:gd name="connsiteX1" fmla="*/ 712 w 901574"/>
              <a:gd name="connsiteY1" fmla="*/ 620235 h 688517"/>
              <a:gd name="connsiteX2" fmla="*/ 55481 w 901574"/>
              <a:gd name="connsiteY2" fmla="*/ 684529 h 688517"/>
              <a:gd name="connsiteX3" fmla="*/ 841294 w 901574"/>
              <a:gd name="connsiteY3" fmla="*/ 684529 h 688517"/>
              <a:gd name="connsiteX4" fmla="*/ 898444 w 901574"/>
              <a:gd name="connsiteY4" fmla="*/ 627379 h 688517"/>
              <a:gd name="connsiteX5" fmla="*/ 898444 w 901574"/>
              <a:gd name="connsiteY5" fmla="*/ 65404 h 688517"/>
              <a:gd name="connsiteX6" fmla="*/ 829387 w 901574"/>
              <a:gd name="connsiteY6" fmla="*/ 13016 h 688517"/>
              <a:gd name="connsiteX7" fmla="*/ 45956 w 901574"/>
              <a:gd name="connsiteY7" fmla="*/ 274954 h 688517"/>
              <a:gd name="connsiteX8" fmla="*/ 712 w 901574"/>
              <a:gd name="connsiteY8" fmla="*/ 327341 h 688517"/>
              <a:gd name="connsiteX0" fmla="*/ 892 w 901754"/>
              <a:gd name="connsiteY0" fmla="*/ 327341 h 684529"/>
              <a:gd name="connsiteX1" fmla="*/ 892 w 901754"/>
              <a:gd name="connsiteY1" fmla="*/ 620235 h 684529"/>
              <a:gd name="connsiteX2" fmla="*/ 55661 w 901754"/>
              <a:gd name="connsiteY2" fmla="*/ 684529 h 684529"/>
              <a:gd name="connsiteX3" fmla="*/ 841474 w 901754"/>
              <a:gd name="connsiteY3" fmla="*/ 684529 h 684529"/>
              <a:gd name="connsiteX4" fmla="*/ 898624 w 901754"/>
              <a:gd name="connsiteY4" fmla="*/ 627379 h 684529"/>
              <a:gd name="connsiteX5" fmla="*/ 898624 w 901754"/>
              <a:gd name="connsiteY5" fmla="*/ 65404 h 684529"/>
              <a:gd name="connsiteX6" fmla="*/ 829567 w 901754"/>
              <a:gd name="connsiteY6" fmla="*/ 13016 h 684529"/>
              <a:gd name="connsiteX7" fmla="*/ 46136 w 901754"/>
              <a:gd name="connsiteY7" fmla="*/ 274954 h 684529"/>
              <a:gd name="connsiteX8" fmla="*/ 892 w 901754"/>
              <a:gd name="connsiteY8" fmla="*/ 327341 h 684529"/>
              <a:gd name="connsiteX0" fmla="*/ 478 w 901340"/>
              <a:gd name="connsiteY0" fmla="*/ 327341 h 684529"/>
              <a:gd name="connsiteX1" fmla="*/ 478 w 901340"/>
              <a:gd name="connsiteY1" fmla="*/ 620235 h 684529"/>
              <a:gd name="connsiteX2" fmla="*/ 55247 w 901340"/>
              <a:gd name="connsiteY2" fmla="*/ 684529 h 684529"/>
              <a:gd name="connsiteX3" fmla="*/ 841060 w 901340"/>
              <a:gd name="connsiteY3" fmla="*/ 684529 h 684529"/>
              <a:gd name="connsiteX4" fmla="*/ 898210 w 901340"/>
              <a:gd name="connsiteY4" fmla="*/ 627379 h 684529"/>
              <a:gd name="connsiteX5" fmla="*/ 898210 w 901340"/>
              <a:gd name="connsiteY5" fmla="*/ 65404 h 684529"/>
              <a:gd name="connsiteX6" fmla="*/ 829153 w 901340"/>
              <a:gd name="connsiteY6" fmla="*/ 13016 h 684529"/>
              <a:gd name="connsiteX7" fmla="*/ 45722 w 901340"/>
              <a:gd name="connsiteY7" fmla="*/ 274954 h 684529"/>
              <a:gd name="connsiteX8" fmla="*/ 478 w 901340"/>
              <a:gd name="connsiteY8" fmla="*/ 327341 h 684529"/>
              <a:gd name="connsiteX0" fmla="*/ 268 w 901130"/>
              <a:gd name="connsiteY0" fmla="*/ 327341 h 689292"/>
              <a:gd name="connsiteX1" fmla="*/ 268 w 901130"/>
              <a:gd name="connsiteY1" fmla="*/ 620235 h 689292"/>
              <a:gd name="connsiteX2" fmla="*/ 93137 w 901130"/>
              <a:gd name="connsiteY2" fmla="*/ 689292 h 689292"/>
              <a:gd name="connsiteX3" fmla="*/ 840850 w 901130"/>
              <a:gd name="connsiteY3" fmla="*/ 684529 h 689292"/>
              <a:gd name="connsiteX4" fmla="*/ 898000 w 901130"/>
              <a:gd name="connsiteY4" fmla="*/ 627379 h 689292"/>
              <a:gd name="connsiteX5" fmla="*/ 898000 w 901130"/>
              <a:gd name="connsiteY5" fmla="*/ 65404 h 689292"/>
              <a:gd name="connsiteX6" fmla="*/ 828943 w 901130"/>
              <a:gd name="connsiteY6" fmla="*/ 13016 h 689292"/>
              <a:gd name="connsiteX7" fmla="*/ 45512 w 901130"/>
              <a:gd name="connsiteY7" fmla="*/ 274954 h 689292"/>
              <a:gd name="connsiteX8" fmla="*/ 268 w 901130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1075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7750"/>
              <a:gd name="connsiteY0" fmla="*/ 327341 h 689292"/>
              <a:gd name="connsiteX1" fmla="*/ 493 w 907750"/>
              <a:gd name="connsiteY1" fmla="*/ 620235 h 689292"/>
              <a:gd name="connsiteX2" fmla="*/ 93362 w 907750"/>
              <a:gd name="connsiteY2" fmla="*/ 689292 h 689292"/>
              <a:gd name="connsiteX3" fmla="*/ 848219 w 907750"/>
              <a:gd name="connsiteY3" fmla="*/ 684529 h 689292"/>
              <a:gd name="connsiteX4" fmla="*/ 907750 w 907750"/>
              <a:gd name="connsiteY4" fmla="*/ 627379 h 689292"/>
              <a:gd name="connsiteX5" fmla="*/ 898225 w 907750"/>
              <a:gd name="connsiteY5" fmla="*/ 65404 h 689292"/>
              <a:gd name="connsiteX6" fmla="*/ 829168 w 907750"/>
              <a:gd name="connsiteY6" fmla="*/ 13016 h 689292"/>
              <a:gd name="connsiteX7" fmla="*/ 45737 w 907750"/>
              <a:gd name="connsiteY7" fmla="*/ 274954 h 689292"/>
              <a:gd name="connsiteX8" fmla="*/ 493 w 907750"/>
              <a:gd name="connsiteY8" fmla="*/ 327341 h 689292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9294"/>
              <a:gd name="connsiteY0" fmla="*/ 328690 h 690641"/>
              <a:gd name="connsiteX1" fmla="*/ 493 w 909294"/>
              <a:gd name="connsiteY1" fmla="*/ 621584 h 690641"/>
              <a:gd name="connsiteX2" fmla="*/ 93362 w 909294"/>
              <a:gd name="connsiteY2" fmla="*/ 690641 h 690641"/>
              <a:gd name="connsiteX3" fmla="*/ 848219 w 909294"/>
              <a:gd name="connsiteY3" fmla="*/ 685878 h 690641"/>
              <a:gd name="connsiteX4" fmla="*/ 907750 w 909294"/>
              <a:gd name="connsiteY4" fmla="*/ 628728 h 690641"/>
              <a:gd name="connsiteX5" fmla="*/ 898225 w 909294"/>
              <a:gd name="connsiteY5" fmla="*/ 66753 h 690641"/>
              <a:gd name="connsiteX6" fmla="*/ 829168 w 909294"/>
              <a:gd name="connsiteY6" fmla="*/ 14365 h 690641"/>
              <a:gd name="connsiteX7" fmla="*/ 45737 w 909294"/>
              <a:gd name="connsiteY7" fmla="*/ 276303 h 690641"/>
              <a:gd name="connsiteX8" fmla="*/ 493 w 909294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578722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10346"/>
              <a:gd name="connsiteY0" fmla="*/ 328690 h 690641"/>
              <a:gd name="connsiteX1" fmla="*/ 493 w 910346"/>
              <a:gd name="connsiteY1" fmla="*/ 621584 h 690641"/>
              <a:gd name="connsiteX2" fmla="*/ 93362 w 910346"/>
              <a:gd name="connsiteY2" fmla="*/ 690641 h 690641"/>
              <a:gd name="connsiteX3" fmla="*/ 848219 w 910346"/>
              <a:gd name="connsiteY3" fmla="*/ 685878 h 690641"/>
              <a:gd name="connsiteX4" fmla="*/ 907750 w 910346"/>
              <a:gd name="connsiteY4" fmla="*/ 578722 h 690641"/>
              <a:gd name="connsiteX5" fmla="*/ 898225 w 910346"/>
              <a:gd name="connsiteY5" fmla="*/ 66753 h 690641"/>
              <a:gd name="connsiteX6" fmla="*/ 829168 w 910346"/>
              <a:gd name="connsiteY6" fmla="*/ 14365 h 690641"/>
              <a:gd name="connsiteX7" fmla="*/ 45737 w 910346"/>
              <a:gd name="connsiteY7" fmla="*/ 276303 h 690641"/>
              <a:gd name="connsiteX8" fmla="*/ 493 w 910346"/>
              <a:gd name="connsiteY8" fmla="*/ 328690 h 690641"/>
              <a:gd name="connsiteX0" fmla="*/ 493 w 908243"/>
              <a:gd name="connsiteY0" fmla="*/ 328690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28690 h 690641"/>
              <a:gd name="connsiteX0" fmla="*/ 493 w 908243"/>
              <a:gd name="connsiteY0" fmla="*/ 359647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9647 h 690641"/>
              <a:gd name="connsiteX0" fmla="*/ 493 w 908243"/>
              <a:gd name="connsiteY0" fmla="*/ 354885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4885 h 690641"/>
              <a:gd name="connsiteX0" fmla="*/ 1323 w 909073"/>
              <a:gd name="connsiteY0" fmla="*/ 354885 h 690641"/>
              <a:gd name="connsiteX1" fmla="*/ 1323 w 909073"/>
              <a:gd name="connsiteY1" fmla="*/ 621584 h 690641"/>
              <a:gd name="connsiteX2" fmla="*/ 94192 w 909073"/>
              <a:gd name="connsiteY2" fmla="*/ 690641 h 690641"/>
              <a:gd name="connsiteX3" fmla="*/ 849049 w 909073"/>
              <a:gd name="connsiteY3" fmla="*/ 685878 h 690641"/>
              <a:gd name="connsiteX4" fmla="*/ 908580 w 909073"/>
              <a:gd name="connsiteY4" fmla="*/ 578722 h 690641"/>
              <a:gd name="connsiteX5" fmla="*/ 899055 w 909073"/>
              <a:gd name="connsiteY5" fmla="*/ 66753 h 690641"/>
              <a:gd name="connsiteX6" fmla="*/ 829998 w 909073"/>
              <a:gd name="connsiteY6" fmla="*/ 14365 h 690641"/>
              <a:gd name="connsiteX7" fmla="*/ 46567 w 909073"/>
              <a:gd name="connsiteY7" fmla="*/ 276303 h 690641"/>
              <a:gd name="connsiteX8" fmla="*/ 1323 w 909073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1322 w 909072"/>
              <a:gd name="connsiteY0" fmla="*/ 385842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595390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920 w 908670"/>
              <a:gd name="connsiteY0" fmla="*/ 385842 h 690641"/>
              <a:gd name="connsiteX1" fmla="*/ 920 w 908670"/>
              <a:gd name="connsiteY1" fmla="*/ 595390 h 690641"/>
              <a:gd name="connsiteX2" fmla="*/ 93789 w 908670"/>
              <a:gd name="connsiteY2" fmla="*/ 690641 h 690641"/>
              <a:gd name="connsiteX3" fmla="*/ 848646 w 908670"/>
              <a:gd name="connsiteY3" fmla="*/ 685878 h 690641"/>
              <a:gd name="connsiteX4" fmla="*/ 908177 w 908670"/>
              <a:gd name="connsiteY4" fmla="*/ 578722 h 690641"/>
              <a:gd name="connsiteX5" fmla="*/ 898652 w 908670"/>
              <a:gd name="connsiteY5" fmla="*/ 66753 h 690641"/>
              <a:gd name="connsiteX6" fmla="*/ 829595 w 908670"/>
              <a:gd name="connsiteY6" fmla="*/ 14365 h 690641"/>
              <a:gd name="connsiteX7" fmla="*/ 46164 w 908670"/>
              <a:gd name="connsiteY7" fmla="*/ 276303 h 690641"/>
              <a:gd name="connsiteX8" fmla="*/ 920 w 908670"/>
              <a:gd name="connsiteY8" fmla="*/ 385842 h 690641"/>
              <a:gd name="connsiteX0" fmla="*/ 882 w 908632"/>
              <a:gd name="connsiteY0" fmla="*/ 385842 h 694528"/>
              <a:gd name="connsiteX1" fmla="*/ 882 w 908632"/>
              <a:gd name="connsiteY1" fmla="*/ 595390 h 694528"/>
              <a:gd name="connsiteX2" fmla="*/ 93751 w 908632"/>
              <a:gd name="connsiteY2" fmla="*/ 690641 h 694528"/>
              <a:gd name="connsiteX3" fmla="*/ 848608 w 908632"/>
              <a:gd name="connsiteY3" fmla="*/ 685878 h 694528"/>
              <a:gd name="connsiteX4" fmla="*/ 908139 w 908632"/>
              <a:gd name="connsiteY4" fmla="*/ 578722 h 694528"/>
              <a:gd name="connsiteX5" fmla="*/ 898614 w 908632"/>
              <a:gd name="connsiteY5" fmla="*/ 66753 h 694528"/>
              <a:gd name="connsiteX6" fmla="*/ 829557 w 908632"/>
              <a:gd name="connsiteY6" fmla="*/ 14365 h 694528"/>
              <a:gd name="connsiteX7" fmla="*/ 46126 w 908632"/>
              <a:gd name="connsiteY7" fmla="*/ 276303 h 694528"/>
              <a:gd name="connsiteX8" fmla="*/ 882 w 908632"/>
              <a:gd name="connsiteY8" fmla="*/ 385842 h 694528"/>
              <a:gd name="connsiteX0" fmla="*/ 882 w 908632"/>
              <a:gd name="connsiteY0" fmla="*/ 385842 h 691355"/>
              <a:gd name="connsiteX1" fmla="*/ 882 w 908632"/>
              <a:gd name="connsiteY1" fmla="*/ 595390 h 691355"/>
              <a:gd name="connsiteX2" fmla="*/ 93751 w 908632"/>
              <a:gd name="connsiteY2" fmla="*/ 690641 h 691355"/>
              <a:gd name="connsiteX3" fmla="*/ 848608 w 908632"/>
              <a:gd name="connsiteY3" fmla="*/ 685878 h 691355"/>
              <a:gd name="connsiteX4" fmla="*/ 908139 w 908632"/>
              <a:gd name="connsiteY4" fmla="*/ 578722 h 691355"/>
              <a:gd name="connsiteX5" fmla="*/ 898614 w 908632"/>
              <a:gd name="connsiteY5" fmla="*/ 66753 h 691355"/>
              <a:gd name="connsiteX6" fmla="*/ 829557 w 908632"/>
              <a:gd name="connsiteY6" fmla="*/ 14365 h 691355"/>
              <a:gd name="connsiteX7" fmla="*/ 46126 w 908632"/>
              <a:gd name="connsiteY7" fmla="*/ 276303 h 691355"/>
              <a:gd name="connsiteX8" fmla="*/ 882 w 908632"/>
              <a:gd name="connsiteY8" fmla="*/ 385842 h 691355"/>
              <a:gd name="connsiteX0" fmla="*/ 882 w 908632"/>
              <a:gd name="connsiteY0" fmla="*/ 385842 h 690641"/>
              <a:gd name="connsiteX1" fmla="*/ 882 w 908632"/>
              <a:gd name="connsiteY1" fmla="*/ 595390 h 690641"/>
              <a:gd name="connsiteX2" fmla="*/ 93751 w 908632"/>
              <a:gd name="connsiteY2" fmla="*/ 690641 h 690641"/>
              <a:gd name="connsiteX3" fmla="*/ 848608 w 908632"/>
              <a:gd name="connsiteY3" fmla="*/ 685878 h 690641"/>
              <a:gd name="connsiteX4" fmla="*/ 908139 w 908632"/>
              <a:gd name="connsiteY4" fmla="*/ 578722 h 690641"/>
              <a:gd name="connsiteX5" fmla="*/ 898614 w 908632"/>
              <a:gd name="connsiteY5" fmla="*/ 66753 h 690641"/>
              <a:gd name="connsiteX6" fmla="*/ 829557 w 908632"/>
              <a:gd name="connsiteY6" fmla="*/ 14365 h 690641"/>
              <a:gd name="connsiteX7" fmla="*/ 46126 w 908632"/>
              <a:gd name="connsiteY7" fmla="*/ 276303 h 690641"/>
              <a:gd name="connsiteX8" fmla="*/ 882 w 908632"/>
              <a:gd name="connsiteY8" fmla="*/ 385842 h 690641"/>
              <a:gd name="connsiteX0" fmla="*/ 655 w 908405"/>
              <a:gd name="connsiteY0" fmla="*/ 385842 h 690641"/>
              <a:gd name="connsiteX1" fmla="*/ 655 w 908405"/>
              <a:gd name="connsiteY1" fmla="*/ 595390 h 690641"/>
              <a:gd name="connsiteX2" fmla="*/ 112574 w 908405"/>
              <a:gd name="connsiteY2" fmla="*/ 690641 h 690641"/>
              <a:gd name="connsiteX3" fmla="*/ 848381 w 908405"/>
              <a:gd name="connsiteY3" fmla="*/ 685878 h 690641"/>
              <a:gd name="connsiteX4" fmla="*/ 907912 w 908405"/>
              <a:gd name="connsiteY4" fmla="*/ 578722 h 690641"/>
              <a:gd name="connsiteX5" fmla="*/ 898387 w 908405"/>
              <a:gd name="connsiteY5" fmla="*/ 66753 h 690641"/>
              <a:gd name="connsiteX6" fmla="*/ 829330 w 908405"/>
              <a:gd name="connsiteY6" fmla="*/ 14365 h 690641"/>
              <a:gd name="connsiteX7" fmla="*/ 45899 w 908405"/>
              <a:gd name="connsiteY7" fmla="*/ 276303 h 690641"/>
              <a:gd name="connsiteX8" fmla="*/ 655 w 908405"/>
              <a:gd name="connsiteY8" fmla="*/ 385842 h 690641"/>
              <a:gd name="connsiteX0" fmla="*/ 807 w 908557"/>
              <a:gd name="connsiteY0" fmla="*/ 385842 h 692203"/>
              <a:gd name="connsiteX1" fmla="*/ 807 w 908557"/>
              <a:gd name="connsiteY1" fmla="*/ 595390 h 692203"/>
              <a:gd name="connsiteX2" fmla="*/ 112726 w 908557"/>
              <a:gd name="connsiteY2" fmla="*/ 690641 h 692203"/>
              <a:gd name="connsiteX3" fmla="*/ 848533 w 908557"/>
              <a:gd name="connsiteY3" fmla="*/ 685878 h 692203"/>
              <a:gd name="connsiteX4" fmla="*/ 908064 w 908557"/>
              <a:gd name="connsiteY4" fmla="*/ 578722 h 692203"/>
              <a:gd name="connsiteX5" fmla="*/ 898539 w 908557"/>
              <a:gd name="connsiteY5" fmla="*/ 66753 h 692203"/>
              <a:gd name="connsiteX6" fmla="*/ 829482 w 908557"/>
              <a:gd name="connsiteY6" fmla="*/ 14365 h 692203"/>
              <a:gd name="connsiteX7" fmla="*/ 46051 w 908557"/>
              <a:gd name="connsiteY7" fmla="*/ 276303 h 692203"/>
              <a:gd name="connsiteX8" fmla="*/ 807 w 908557"/>
              <a:gd name="connsiteY8" fmla="*/ 385842 h 692203"/>
              <a:gd name="connsiteX0" fmla="*/ 699 w 908449"/>
              <a:gd name="connsiteY0" fmla="*/ 385842 h 692203"/>
              <a:gd name="connsiteX1" fmla="*/ 699 w 908449"/>
              <a:gd name="connsiteY1" fmla="*/ 595390 h 692203"/>
              <a:gd name="connsiteX2" fmla="*/ 112618 w 908449"/>
              <a:gd name="connsiteY2" fmla="*/ 690641 h 692203"/>
              <a:gd name="connsiteX3" fmla="*/ 848425 w 908449"/>
              <a:gd name="connsiteY3" fmla="*/ 685878 h 692203"/>
              <a:gd name="connsiteX4" fmla="*/ 907956 w 908449"/>
              <a:gd name="connsiteY4" fmla="*/ 578722 h 692203"/>
              <a:gd name="connsiteX5" fmla="*/ 898431 w 908449"/>
              <a:gd name="connsiteY5" fmla="*/ 66753 h 692203"/>
              <a:gd name="connsiteX6" fmla="*/ 829374 w 908449"/>
              <a:gd name="connsiteY6" fmla="*/ 14365 h 692203"/>
              <a:gd name="connsiteX7" fmla="*/ 45943 w 908449"/>
              <a:gd name="connsiteY7" fmla="*/ 276303 h 692203"/>
              <a:gd name="connsiteX8" fmla="*/ 699 w 908449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0534"/>
              <a:gd name="connsiteY0" fmla="*/ 386399 h 692760"/>
              <a:gd name="connsiteX1" fmla="*/ 699 w 910534"/>
              <a:gd name="connsiteY1" fmla="*/ 595947 h 692760"/>
              <a:gd name="connsiteX2" fmla="*/ 112618 w 910534"/>
              <a:gd name="connsiteY2" fmla="*/ 691198 h 692760"/>
              <a:gd name="connsiteX3" fmla="*/ 848425 w 910534"/>
              <a:gd name="connsiteY3" fmla="*/ 686435 h 692760"/>
              <a:gd name="connsiteX4" fmla="*/ 907956 w 910534"/>
              <a:gd name="connsiteY4" fmla="*/ 579279 h 692760"/>
              <a:gd name="connsiteX5" fmla="*/ 910534 w 910534"/>
              <a:gd name="connsiteY5" fmla="*/ 67310 h 692760"/>
              <a:gd name="connsiteX6" fmla="*/ 829374 w 910534"/>
              <a:gd name="connsiteY6" fmla="*/ 14922 h 692760"/>
              <a:gd name="connsiteX7" fmla="*/ 45943 w 910534"/>
              <a:gd name="connsiteY7" fmla="*/ 276860 h 692760"/>
              <a:gd name="connsiteX8" fmla="*/ 699 w 910534"/>
              <a:gd name="connsiteY8" fmla="*/ 386399 h 692760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264 w 910099"/>
              <a:gd name="connsiteY0" fmla="*/ 384791 h 691326"/>
              <a:gd name="connsiteX1" fmla="*/ 264 w 910099"/>
              <a:gd name="connsiteY1" fmla="*/ 594339 h 691326"/>
              <a:gd name="connsiteX2" fmla="*/ 112183 w 910099"/>
              <a:gd name="connsiteY2" fmla="*/ 689590 h 691326"/>
              <a:gd name="connsiteX3" fmla="*/ 847990 w 910099"/>
              <a:gd name="connsiteY3" fmla="*/ 684827 h 691326"/>
              <a:gd name="connsiteX4" fmla="*/ 907521 w 910099"/>
              <a:gd name="connsiteY4" fmla="*/ 577671 h 691326"/>
              <a:gd name="connsiteX5" fmla="*/ 910099 w 910099"/>
              <a:gd name="connsiteY5" fmla="*/ 65702 h 691326"/>
              <a:gd name="connsiteX6" fmla="*/ 828939 w 910099"/>
              <a:gd name="connsiteY6" fmla="*/ 13314 h 691326"/>
              <a:gd name="connsiteX7" fmla="*/ 45508 w 910099"/>
              <a:gd name="connsiteY7" fmla="*/ 275252 h 691326"/>
              <a:gd name="connsiteX8" fmla="*/ 264 w 910099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365 w 910200"/>
              <a:gd name="connsiteY0" fmla="*/ 384791 h 691326"/>
              <a:gd name="connsiteX1" fmla="*/ 365 w 910200"/>
              <a:gd name="connsiteY1" fmla="*/ 594339 h 691326"/>
              <a:gd name="connsiteX2" fmla="*/ 112284 w 910200"/>
              <a:gd name="connsiteY2" fmla="*/ 689590 h 691326"/>
              <a:gd name="connsiteX3" fmla="*/ 848091 w 910200"/>
              <a:gd name="connsiteY3" fmla="*/ 684827 h 691326"/>
              <a:gd name="connsiteX4" fmla="*/ 907622 w 910200"/>
              <a:gd name="connsiteY4" fmla="*/ 577671 h 691326"/>
              <a:gd name="connsiteX5" fmla="*/ 910200 w 910200"/>
              <a:gd name="connsiteY5" fmla="*/ 65702 h 691326"/>
              <a:gd name="connsiteX6" fmla="*/ 829040 w 910200"/>
              <a:gd name="connsiteY6" fmla="*/ 13314 h 691326"/>
              <a:gd name="connsiteX7" fmla="*/ 45609 w 910200"/>
              <a:gd name="connsiteY7" fmla="*/ 275252 h 691326"/>
              <a:gd name="connsiteX8" fmla="*/ 365 w 910200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9835" h="691326">
                <a:moveTo>
                  <a:pt x="0" y="384791"/>
                </a:moveTo>
                <a:lnTo>
                  <a:pt x="0" y="594339"/>
                </a:lnTo>
                <a:cubicBezTo>
                  <a:pt x="314" y="705292"/>
                  <a:pt x="53182" y="691972"/>
                  <a:pt x="111919" y="689590"/>
                </a:cubicBezTo>
                <a:lnTo>
                  <a:pt x="847726" y="684827"/>
                </a:lnTo>
                <a:cubicBezTo>
                  <a:pt x="914024" y="693362"/>
                  <a:pt x="907077" y="643198"/>
                  <a:pt x="907257" y="577671"/>
                </a:cubicBezTo>
                <a:cubicBezTo>
                  <a:pt x="908116" y="407015"/>
                  <a:pt x="908976" y="236358"/>
                  <a:pt x="909835" y="65702"/>
                </a:cubicBezTo>
                <a:cubicBezTo>
                  <a:pt x="909889" y="-22703"/>
                  <a:pt x="874045" y="-1169"/>
                  <a:pt x="828675" y="13314"/>
                </a:cubicBezTo>
                <a:lnTo>
                  <a:pt x="45244" y="275252"/>
                </a:lnTo>
                <a:cubicBezTo>
                  <a:pt x="-3528" y="294197"/>
                  <a:pt x="701" y="312769"/>
                  <a:pt x="0" y="384791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Заголовок 12"/>
          <p:cNvSpPr>
            <a:spLocks noGrp="1"/>
          </p:cNvSpPr>
          <p:nvPr>
            <p:ph type="title" hasCustomPrompt="1"/>
          </p:nvPr>
        </p:nvSpPr>
        <p:spPr>
          <a:xfrm>
            <a:off x="1206500" y="2574930"/>
            <a:ext cx="72771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ba-RU" dirty="0"/>
              <a:t>Заголовок</a:t>
            </a:r>
            <a:endParaRPr lang="ru-RU" dirty="0"/>
          </a:p>
        </p:txBody>
      </p:sp>
      <p:sp>
        <p:nvSpPr>
          <p:cNvPr id="18" name="Полилиния 17"/>
          <p:cNvSpPr/>
          <p:nvPr userDrawn="1"/>
        </p:nvSpPr>
        <p:spPr>
          <a:xfrm rot="10800000">
            <a:off x="1575971" y="4090869"/>
            <a:ext cx="7747000" cy="1899258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" fmla="*/ 0 w 902120"/>
              <a:gd name="connsiteY0" fmla="*/ 321495 h 678683"/>
              <a:gd name="connsiteX1" fmla="*/ 0 w 902120"/>
              <a:gd name="connsiteY1" fmla="*/ 614389 h 678683"/>
              <a:gd name="connsiteX2" fmla="*/ 54769 w 902120"/>
              <a:gd name="connsiteY2" fmla="*/ 678683 h 678683"/>
              <a:gd name="connsiteX3" fmla="*/ 840582 w 902120"/>
              <a:gd name="connsiteY3" fmla="*/ 678683 h 678683"/>
              <a:gd name="connsiteX4" fmla="*/ 897732 w 902120"/>
              <a:gd name="connsiteY4" fmla="*/ 621533 h 678683"/>
              <a:gd name="connsiteX5" fmla="*/ 897732 w 902120"/>
              <a:gd name="connsiteY5" fmla="*/ 59558 h 678683"/>
              <a:gd name="connsiteX6" fmla="*/ 828675 w 902120"/>
              <a:gd name="connsiteY6" fmla="*/ 7170 h 678683"/>
              <a:gd name="connsiteX7" fmla="*/ 45244 w 902120"/>
              <a:gd name="connsiteY7" fmla="*/ 269108 h 678683"/>
              <a:gd name="connsiteX8" fmla="*/ 0 w 902120"/>
              <a:gd name="connsiteY8" fmla="*/ 321495 h 678683"/>
              <a:gd name="connsiteX0" fmla="*/ 0 w 903259"/>
              <a:gd name="connsiteY0" fmla="*/ 334803 h 691991"/>
              <a:gd name="connsiteX1" fmla="*/ 0 w 903259"/>
              <a:gd name="connsiteY1" fmla="*/ 627697 h 691991"/>
              <a:gd name="connsiteX2" fmla="*/ 54769 w 903259"/>
              <a:gd name="connsiteY2" fmla="*/ 691991 h 691991"/>
              <a:gd name="connsiteX3" fmla="*/ 840582 w 903259"/>
              <a:gd name="connsiteY3" fmla="*/ 691991 h 691991"/>
              <a:gd name="connsiteX4" fmla="*/ 897732 w 903259"/>
              <a:gd name="connsiteY4" fmla="*/ 634841 h 691991"/>
              <a:gd name="connsiteX5" fmla="*/ 897732 w 903259"/>
              <a:gd name="connsiteY5" fmla="*/ 72866 h 691991"/>
              <a:gd name="connsiteX6" fmla="*/ 828675 w 903259"/>
              <a:gd name="connsiteY6" fmla="*/ 20478 h 691991"/>
              <a:gd name="connsiteX7" fmla="*/ 45244 w 903259"/>
              <a:gd name="connsiteY7" fmla="*/ 282416 h 691991"/>
              <a:gd name="connsiteX8" fmla="*/ 0 w 903259"/>
              <a:gd name="connsiteY8" fmla="*/ 334803 h 691991"/>
              <a:gd name="connsiteX0" fmla="*/ 0 w 902430"/>
              <a:gd name="connsiteY0" fmla="*/ 326084 h 683272"/>
              <a:gd name="connsiteX1" fmla="*/ 0 w 902430"/>
              <a:gd name="connsiteY1" fmla="*/ 618978 h 683272"/>
              <a:gd name="connsiteX2" fmla="*/ 54769 w 902430"/>
              <a:gd name="connsiteY2" fmla="*/ 683272 h 683272"/>
              <a:gd name="connsiteX3" fmla="*/ 840582 w 902430"/>
              <a:gd name="connsiteY3" fmla="*/ 683272 h 683272"/>
              <a:gd name="connsiteX4" fmla="*/ 897732 w 902430"/>
              <a:gd name="connsiteY4" fmla="*/ 626122 h 683272"/>
              <a:gd name="connsiteX5" fmla="*/ 897732 w 902430"/>
              <a:gd name="connsiteY5" fmla="*/ 64147 h 683272"/>
              <a:gd name="connsiteX6" fmla="*/ 828675 w 902430"/>
              <a:gd name="connsiteY6" fmla="*/ 11759 h 683272"/>
              <a:gd name="connsiteX7" fmla="*/ 45244 w 902430"/>
              <a:gd name="connsiteY7" fmla="*/ 273697 h 683272"/>
              <a:gd name="connsiteX8" fmla="*/ 0 w 902430"/>
              <a:gd name="connsiteY8" fmla="*/ 326084 h 683272"/>
              <a:gd name="connsiteX0" fmla="*/ 0 w 898864"/>
              <a:gd name="connsiteY0" fmla="*/ 327341 h 684529"/>
              <a:gd name="connsiteX1" fmla="*/ 0 w 898864"/>
              <a:gd name="connsiteY1" fmla="*/ 620235 h 684529"/>
              <a:gd name="connsiteX2" fmla="*/ 54769 w 898864"/>
              <a:gd name="connsiteY2" fmla="*/ 684529 h 684529"/>
              <a:gd name="connsiteX3" fmla="*/ 840582 w 898864"/>
              <a:gd name="connsiteY3" fmla="*/ 684529 h 684529"/>
              <a:gd name="connsiteX4" fmla="*/ 897732 w 898864"/>
              <a:gd name="connsiteY4" fmla="*/ 627379 h 684529"/>
              <a:gd name="connsiteX5" fmla="*/ 897732 w 898864"/>
              <a:gd name="connsiteY5" fmla="*/ 65404 h 684529"/>
              <a:gd name="connsiteX6" fmla="*/ 828675 w 898864"/>
              <a:gd name="connsiteY6" fmla="*/ 13016 h 684529"/>
              <a:gd name="connsiteX7" fmla="*/ 45244 w 898864"/>
              <a:gd name="connsiteY7" fmla="*/ 274954 h 684529"/>
              <a:gd name="connsiteX8" fmla="*/ 0 w 898864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1654 w 902516"/>
              <a:gd name="connsiteY0" fmla="*/ 327341 h 684529"/>
              <a:gd name="connsiteX1" fmla="*/ 1654 w 902516"/>
              <a:gd name="connsiteY1" fmla="*/ 620235 h 684529"/>
              <a:gd name="connsiteX2" fmla="*/ 56423 w 902516"/>
              <a:gd name="connsiteY2" fmla="*/ 684529 h 684529"/>
              <a:gd name="connsiteX3" fmla="*/ 842236 w 902516"/>
              <a:gd name="connsiteY3" fmla="*/ 684529 h 684529"/>
              <a:gd name="connsiteX4" fmla="*/ 899386 w 902516"/>
              <a:gd name="connsiteY4" fmla="*/ 627379 h 684529"/>
              <a:gd name="connsiteX5" fmla="*/ 899386 w 902516"/>
              <a:gd name="connsiteY5" fmla="*/ 65404 h 684529"/>
              <a:gd name="connsiteX6" fmla="*/ 830329 w 902516"/>
              <a:gd name="connsiteY6" fmla="*/ 13016 h 684529"/>
              <a:gd name="connsiteX7" fmla="*/ 46898 w 902516"/>
              <a:gd name="connsiteY7" fmla="*/ 274954 h 684529"/>
              <a:gd name="connsiteX8" fmla="*/ 1654 w 902516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501 w 901363"/>
              <a:gd name="connsiteY0" fmla="*/ 327341 h 684529"/>
              <a:gd name="connsiteX1" fmla="*/ 501 w 901363"/>
              <a:gd name="connsiteY1" fmla="*/ 620235 h 684529"/>
              <a:gd name="connsiteX2" fmla="*/ 55270 w 901363"/>
              <a:gd name="connsiteY2" fmla="*/ 684529 h 684529"/>
              <a:gd name="connsiteX3" fmla="*/ 841083 w 901363"/>
              <a:gd name="connsiteY3" fmla="*/ 684529 h 684529"/>
              <a:gd name="connsiteX4" fmla="*/ 898233 w 901363"/>
              <a:gd name="connsiteY4" fmla="*/ 627379 h 684529"/>
              <a:gd name="connsiteX5" fmla="*/ 898233 w 901363"/>
              <a:gd name="connsiteY5" fmla="*/ 65404 h 684529"/>
              <a:gd name="connsiteX6" fmla="*/ 829176 w 901363"/>
              <a:gd name="connsiteY6" fmla="*/ 13016 h 684529"/>
              <a:gd name="connsiteX7" fmla="*/ 45745 w 901363"/>
              <a:gd name="connsiteY7" fmla="*/ 274954 h 684529"/>
              <a:gd name="connsiteX8" fmla="*/ 501 w 901363"/>
              <a:gd name="connsiteY8" fmla="*/ 327341 h 684529"/>
              <a:gd name="connsiteX0" fmla="*/ 712 w 901574"/>
              <a:gd name="connsiteY0" fmla="*/ 327341 h 688517"/>
              <a:gd name="connsiteX1" fmla="*/ 712 w 901574"/>
              <a:gd name="connsiteY1" fmla="*/ 620235 h 688517"/>
              <a:gd name="connsiteX2" fmla="*/ 55481 w 901574"/>
              <a:gd name="connsiteY2" fmla="*/ 684529 h 688517"/>
              <a:gd name="connsiteX3" fmla="*/ 841294 w 901574"/>
              <a:gd name="connsiteY3" fmla="*/ 684529 h 688517"/>
              <a:gd name="connsiteX4" fmla="*/ 898444 w 901574"/>
              <a:gd name="connsiteY4" fmla="*/ 627379 h 688517"/>
              <a:gd name="connsiteX5" fmla="*/ 898444 w 901574"/>
              <a:gd name="connsiteY5" fmla="*/ 65404 h 688517"/>
              <a:gd name="connsiteX6" fmla="*/ 829387 w 901574"/>
              <a:gd name="connsiteY6" fmla="*/ 13016 h 688517"/>
              <a:gd name="connsiteX7" fmla="*/ 45956 w 901574"/>
              <a:gd name="connsiteY7" fmla="*/ 274954 h 688517"/>
              <a:gd name="connsiteX8" fmla="*/ 712 w 901574"/>
              <a:gd name="connsiteY8" fmla="*/ 327341 h 688517"/>
              <a:gd name="connsiteX0" fmla="*/ 892 w 901754"/>
              <a:gd name="connsiteY0" fmla="*/ 327341 h 684529"/>
              <a:gd name="connsiteX1" fmla="*/ 892 w 901754"/>
              <a:gd name="connsiteY1" fmla="*/ 620235 h 684529"/>
              <a:gd name="connsiteX2" fmla="*/ 55661 w 901754"/>
              <a:gd name="connsiteY2" fmla="*/ 684529 h 684529"/>
              <a:gd name="connsiteX3" fmla="*/ 841474 w 901754"/>
              <a:gd name="connsiteY3" fmla="*/ 684529 h 684529"/>
              <a:gd name="connsiteX4" fmla="*/ 898624 w 901754"/>
              <a:gd name="connsiteY4" fmla="*/ 627379 h 684529"/>
              <a:gd name="connsiteX5" fmla="*/ 898624 w 901754"/>
              <a:gd name="connsiteY5" fmla="*/ 65404 h 684529"/>
              <a:gd name="connsiteX6" fmla="*/ 829567 w 901754"/>
              <a:gd name="connsiteY6" fmla="*/ 13016 h 684529"/>
              <a:gd name="connsiteX7" fmla="*/ 46136 w 901754"/>
              <a:gd name="connsiteY7" fmla="*/ 274954 h 684529"/>
              <a:gd name="connsiteX8" fmla="*/ 892 w 901754"/>
              <a:gd name="connsiteY8" fmla="*/ 327341 h 684529"/>
              <a:gd name="connsiteX0" fmla="*/ 478 w 901340"/>
              <a:gd name="connsiteY0" fmla="*/ 327341 h 684529"/>
              <a:gd name="connsiteX1" fmla="*/ 478 w 901340"/>
              <a:gd name="connsiteY1" fmla="*/ 620235 h 684529"/>
              <a:gd name="connsiteX2" fmla="*/ 55247 w 901340"/>
              <a:gd name="connsiteY2" fmla="*/ 684529 h 684529"/>
              <a:gd name="connsiteX3" fmla="*/ 841060 w 901340"/>
              <a:gd name="connsiteY3" fmla="*/ 684529 h 684529"/>
              <a:gd name="connsiteX4" fmla="*/ 898210 w 901340"/>
              <a:gd name="connsiteY4" fmla="*/ 627379 h 684529"/>
              <a:gd name="connsiteX5" fmla="*/ 898210 w 901340"/>
              <a:gd name="connsiteY5" fmla="*/ 65404 h 684529"/>
              <a:gd name="connsiteX6" fmla="*/ 829153 w 901340"/>
              <a:gd name="connsiteY6" fmla="*/ 13016 h 684529"/>
              <a:gd name="connsiteX7" fmla="*/ 45722 w 901340"/>
              <a:gd name="connsiteY7" fmla="*/ 274954 h 684529"/>
              <a:gd name="connsiteX8" fmla="*/ 478 w 901340"/>
              <a:gd name="connsiteY8" fmla="*/ 327341 h 684529"/>
              <a:gd name="connsiteX0" fmla="*/ 268 w 901130"/>
              <a:gd name="connsiteY0" fmla="*/ 327341 h 689292"/>
              <a:gd name="connsiteX1" fmla="*/ 268 w 901130"/>
              <a:gd name="connsiteY1" fmla="*/ 620235 h 689292"/>
              <a:gd name="connsiteX2" fmla="*/ 93137 w 901130"/>
              <a:gd name="connsiteY2" fmla="*/ 689292 h 689292"/>
              <a:gd name="connsiteX3" fmla="*/ 840850 w 901130"/>
              <a:gd name="connsiteY3" fmla="*/ 684529 h 689292"/>
              <a:gd name="connsiteX4" fmla="*/ 898000 w 901130"/>
              <a:gd name="connsiteY4" fmla="*/ 627379 h 689292"/>
              <a:gd name="connsiteX5" fmla="*/ 898000 w 901130"/>
              <a:gd name="connsiteY5" fmla="*/ 65404 h 689292"/>
              <a:gd name="connsiteX6" fmla="*/ 828943 w 901130"/>
              <a:gd name="connsiteY6" fmla="*/ 13016 h 689292"/>
              <a:gd name="connsiteX7" fmla="*/ 45512 w 901130"/>
              <a:gd name="connsiteY7" fmla="*/ 274954 h 689292"/>
              <a:gd name="connsiteX8" fmla="*/ 268 w 901130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1075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7750"/>
              <a:gd name="connsiteY0" fmla="*/ 327341 h 689292"/>
              <a:gd name="connsiteX1" fmla="*/ 493 w 907750"/>
              <a:gd name="connsiteY1" fmla="*/ 620235 h 689292"/>
              <a:gd name="connsiteX2" fmla="*/ 93362 w 907750"/>
              <a:gd name="connsiteY2" fmla="*/ 689292 h 689292"/>
              <a:gd name="connsiteX3" fmla="*/ 848219 w 907750"/>
              <a:gd name="connsiteY3" fmla="*/ 684529 h 689292"/>
              <a:gd name="connsiteX4" fmla="*/ 907750 w 907750"/>
              <a:gd name="connsiteY4" fmla="*/ 627379 h 689292"/>
              <a:gd name="connsiteX5" fmla="*/ 898225 w 907750"/>
              <a:gd name="connsiteY5" fmla="*/ 65404 h 689292"/>
              <a:gd name="connsiteX6" fmla="*/ 829168 w 907750"/>
              <a:gd name="connsiteY6" fmla="*/ 13016 h 689292"/>
              <a:gd name="connsiteX7" fmla="*/ 45737 w 907750"/>
              <a:gd name="connsiteY7" fmla="*/ 274954 h 689292"/>
              <a:gd name="connsiteX8" fmla="*/ 493 w 907750"/>
              <a:gd name="connsiteY8" fmla="*/ 327341 h 689292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9294"/>
              <a:gd name="connsiteY0" fmla="*/ 328690 h 690641"/>
              <a:gd name="connsiteX1" fmla="*/ 493 w 909294"/>
              <a:gd name="connsiteY1" fmla="*/ 621584 h 690641"/>
              <a:gd name="connsiteX2" fmla="*/ 93362 w 909294"/>
              <a:gd name="connsiteY2" fmla="*/ 690641 h 690641"/>
              <a:gd name="connsiteX3" fmla="*/ 848219 w 909294"/>
              <a:gd name="connsiteY3" fmla="*/ 685878 h 690641"/>
              <a:gd name="connsiteX4" fmla="*/ 907750 w 909294"/>
              <a:gd name="connsiteY4" fmla="*/ 628728 h 690641"/>
              <a:gd name="connsiteX5" fmla="*/ 898225 w 909294"/>
              <a:gd name="connsiteY5" fmla="*/ 66753 h 690641"/>
              <a:gd name="connsiteX6" fmla="*/ 829168 w 909294"/>
              <a:gd name="connsiteY6" fmla="*/ 14365 h 690641"/>
              <a:gd name="connsiteX7" fmla="*/ 45737 w 909294"/>
              <a:gd name="connsiteY7" fmla="*/ 276303 h 690641"/>
              <a:gd name="connsiteX8" fmla="*/ 493 w 909294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578722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10346"/>
              <a:gd name="connsiteY0" fmla="*/ 328690 h 690641"/>
              <a:gd name="connsiteX1" fmla="*/ 493 w 910346"/>
              <a:gd name="connsiteY1" fmla="*/ 621584 h 690641"/>
              <a:gd name="connsiteX2" fmla="*/ 93362 w 910346"/>
              <a:gd name="connsiteY2" fmla="*/ 690641 h 690641"/>
              <a:gd name="connsiteX3" fmla="*/ 848219 w 910346"/>
              <a:gd name="connsiteY3" fmla="*/ 685878 h 690641"/>
              <a:gd name="connsiteX4" fmla="*/ 907750 w 910346"/>
              <a:gd name="connsiteY4" fmla="*/ 578722 h 690641"/>
              <a:gd name="connsiteX5" fmla="*/ 898225 w 910346"/>
              <a:gd name="connsiteY5" fmla="*/ 66753 h 690641"/>
              <a:gd name="connsiteX6" fmla="*/ 829168 w 910346"/>
              <a:gd name="connsiteY6" fmla="*/ 14365 h 690641"/>
              <a:gd name="connsiteX7" fmla="*/ 45737 w 910346"/>
              <a:gd name="connsiteY7" fmla="*/ 276303 h 690641"/>
              <a:gd name="connsiteX8" fmla="*/ 493 w 910346"/>
              <a:gd name="connsiteY8" fmla="*/ 328690 h 690641"/>
              <a:gd name="connsiteX0" fmla="*/ 493 w 908243"/>
              <a:gd name="connsiteY0" fmla="*/ 328690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28690 h 690641"/>
              <a:gd name="connsiteX0" fmla="*/ 493 w 908243"/>
              <a:gd name="connsiteY0" fmla="*/ 359647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9647 h 690641"/>
              <a:gd name="connsiteX0" fmla="*/ 493 w 908243"/>
              <a:gd name="connsiteY0" fmla="*/ 354885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4885 h 690641"/>
              <a:gd name="connsiteX0" fmla="*/ 1323 w 909073"/>
              <a:gd name="connsiteY0" fmla="*/ 354885 h 690641"/>
              <a:gd name="connsiteX1" fmla="*/ 1323 w 909073"/>
              <a:gd name="connsiteY1" fmla="*/ 621584 h 690641"/>
              <a:gd name="connsiteX2" fmla="*/ 94192 w 909073"/>
              <a:gd name="connsiteY2" fmla="*/ 690641 h 690641"/>
              <a:gd name="connsiteX3" fmla="*/ 849049 w 909073"/>
              <a:gd name="connsiteY3" fmla="*/ 685878 h 690641"/>
              <a:gd name="connsiteX4" fmla="*/ 908580 w 909073"/>
              <a:gd name="connsiteY4" fmla="*/ 578722 h 690641"/>
              <a:gd name="connsiteX5" fmla="*/ 899055 w 909073"/>
              <a:gd name="connsiteY5" fmla="*/ 66753 h 690641"/>
              <a:gd name="connsiteX6" fmla="*/ 829998 w 909073"/>
              <a:gd name="connsiteY6" fmla="*/ 14365 h 690641"/>
              <a:gd name="connsiteX7" fmla="*/ 46567 w 909073"/>
              <a:gd name="connsiteY7" fmla="*/ 276303 h 690641"/>
              <a:gd name="connsiteX8" fmla="*/ 1323 w 909073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1322 w 909072"/>
              <a:gd name="connsiteY0" fmla="*/ 385842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595390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920 w 908670"/>
              <a:gd name="connsiteY0" fmla="*/ 385842 h 690641"/>
              <a:gd name="connsiteX1" fmla="*/ 920 w 908670"/>
              <a:gd name="connsiteY1" fmla="*/ 595390 h 690641"/>
              <a:gd name="connsiteX2" fmla="*/ 93789 w 908670"/>
              <a:gd name="connsiteY2" fmla="*/ 690641 h 690641"/>
              <a:gd name="connsiteX3" fmla="*/ 848646 w 908670"/>
              <a:gd name="connsiteY3" fmla="*/ 685878 h 690641"/>
              <a:gd name="connsiteX4" fmla="*/ 908177 w 908670"/>
              <a:gd name="connsiteY4" fmla="*/ 578722 h 690641"/>
              <a:gd name="connsiteX5" fmla="*/ 898652 w 908670"/>
              <a:gd name="connsiteY5" fmla="*/ 66753 h 690641"/>
              <a:gd name="connsiteX6" fmla="*/ 829595 w 908670"/>
              <a:gd name="connsiteY6" fmla="*/ 14365 h 690641"/>
              <a:gd name="connsiteX7" fmla="*/ 46164 w 908670"/>
              <a:gd name="connsiteY7" fmla="*/ 276303 h 690641"/>
              <a:gd name="connsiteX8" fmla="*/ 920 w 908670"/>
              <a:gd name="connsiteY8" fmla="*/ 385842 h 690641"/>
              <a:gd name="connsiteX0" fmla="*/ 882 w 908632"/>
              <a:gd name="connsiteY0" fmla="*/ 385842 h 694528"/>
              <a:gd name="connsiteX1" fmla="*/ 882 w 908632"/>
              <a:gd name="connsiteY1" fmla="*/ 595390 h 694528"/>
              <a:gd name="connsiteX2" fmla="*/ 93751 w 908632"/>
              <a:gd name="connsiteY2" fmla="*/ 690641 h 694528"/>
              <a:gd name="connsiteX3" fmla="*/ 848608 w 908632"/>
              <a:gd name="connsiteY3" fmla="*/ 685878 h 694528"/>
              <a:gd name="connsiteX4" fmla="*/ 908139 w 908632"/>
              <a:gd name="connsiteY4" fmla="*/ 578722 h 694528"/>
              <a:gd name="connsiteX5" fmla="*/ 898614 w 908632"/>
              <a:gd name="connsiteY5" fmla="*/ 66753 h 694528"/>
              <a:gd name="connsiteX6" fmla="*/ 829557 w 908632"/>
              <a:gd name="connsiteY6" fmla="*/ 14365 h 694528"/>
              <a:gd name="connsiteX7" fmla="*/ 46126 w 908632"/>
              <a:gd name="connsiteY7" fmla="*/ 276303 h 694528"/>
              <a:gd name="connsiteX8" fmla="*/ 882 w 908632"/>
              <a:gd name="connsiteY8" fmla="*/ 385842 h 694528"/>
              <a:gd name="connsiteX0" fmla="*/ 882 w 908632"/>
              <a:gd name="connsiteY0" fmla="*/ 385842 h 691355"/>
              <a:gd name="connsiteX1" fmla="*/ 882 w 908632"/>
              <a:gd name="connsiteY1" fmla="*/ 595390 h 691355"/>
              <a:gd name="connsiteX2" fmla="*/ 93751 w 908632"/>
              <a:gd name="connsiteY2" fmla="*/ 690641 h 691355"/>
              <a:gd name="connsiteX3" fmla="*/ 848608 w 908632"/>
              <a:gd name="connsiteY3" fmla="*/ 685878 h 691355"/>
              <a:gd name="connsiteX4" fmla="*/ 908139 w 908632"/>
              <a:gd name="connsiteY4" fmla="*/ 578722 h 691355"/>
              <a:gd name="connsiteX5" fmla="*/ 898614 w 908632"/>
              <a:gd name="connsiteY5" fmla="*/ 66753 h 691355"/>
              <a:gd name="connsiteX6" fmla="*/ 829557 w 908632"/>
              <a:gd name="connsiteY6" fmla="*/ 14365 h 691355"/>
              <a:gd name="connsiteX7" fmla="*/ 46126 w 908632"/>
              <a:gd name="connsiteY7" fmla="*/ 276303 h 691355"/>
              <a:gd name="connsiteX8" fmla="*/ 882 w 908632"/>
              <a:gd name="connsiteY8" fmla="*/ 385842 h 691355"/>
              <a:gd name="connsiteX0" fmla="*/ 882 w 908632"/>
              <a:gd name="connsiteY0" fmla="*/ 385842 h 690641"/>
              <a:gd name="connsiteX1" fmla="*/ 882 w 908632"/>
              <a:gd name="connsiteY1" fmla="*/ 595390 h 690641"/>
              <a:gd name="connsiteX2" fmla="*/ 93751 w 908632"/>
              <a:gd name="connsiteY2" fmla="*/ 690641 h 690641"/>
              <a:gd name="connsiteX3" fmla="*/ 848608 w 908632"/>
              <a:gd name="connsiteY3" fmla="*/ 685878 h 690641"/>
              <a:gd name="connsiteX4" fmla="*/ 908139 w 908632"/>
              <a:gd name="connsiteY4" fmla="*/ 578722 h 690641"/>
              <a:gd name="connsiteX5" fmla="*/ 898614 w 908632"/>
              <a:gd name="connsiteY5" fmla="*/ 66753 h 690641"/>
              <a:gd name="connsiteX6" fmla="*/ 829557 w 908632"/>
              <a:gd name="connsiteY6" fmla="*/ 14365 h 690641"/>
              <a:gd name="connsiteX7" fmla="*/ 46126 w 908632"/>
              <a:gd name="connsiteY7" fmla="*/ 276303 h 690641"/>
              <a:gd name="connsiteX8" fmla="*/ 882 w 908632"/>
              <a:gd name="connsiteY8" fmla="*/ 385842 h 690641"/>
              <a:gd name="connsiteX0" fmla="*/ 655 w 908405"/>
              <a:gd name="connsiteY0" fmla="*/ 385842 h 690641"/>
              <a:gd name="connsiteX1" fmla="*/ 655 w 908405"/>
              <a:gd name="connsiteY1" fmla="*/ 595390 h 690641"/>
              <a:gd name="connsiteX2" fmla="*/ 112574 w 908405"/>
              <a:gd name="connsiteY2" fmla="*/ 690641 h 690641"/>
              <a:gd name="connsiteX3" fmla="*/ 848381 w 908405"/>
              <a:gd name="connsiteY3" fmla="*/ 685878 h 690641"/>
              <a:gd name="connsiteX4" fmla="*/ 907912 w 908405"/>
              <a:gd name="connsiteY4" fmla="*/ 578722 h 690641"/>
              <a:gd name="connsiteX5" fmla="*/ 898387 w 908405"/>
              <a:gd name="connsiteY5" fmla="*/ 66753 h 690641"/>
              <a:gd name="connsiteX6" fmla="*/ 829330 w 908405"/>
              <a:gd name="connsiteY6" fmla="*/ 14365 h 690641"/>
              <a:gd name="connsiteX7" fmla="*/ 45899 w 908405"/>
              <a:gd name="connsiteY7" fmla="*/ 276303 h 690641"/>
              <a:gd name="connsiteX8" fmla="*/ 655 w 908405"/>
              <a:gd name="connsiteY8" fmla="*/ 385842 h 690641"/>
              <a:gd name="connsiteX0" fmla="*/ 807 w 908557"/>
              <a:gd name="connsiteY0" fmla="*/ 385842 h 692203"/>
              <a:gd name="connsiteX1" fmla="*/ 807 w 908557"/>
              <a:gd name="connsiteY1" fmla="*/ 595390 h 692203"/>
              <a:gd name="connsiteX2" fmla="*/ 112726 w 908557"/>
              <a:gd name="connsiteY2" fmla="*/ 690641 h 692203"/>
              <a:gd name="connsiteX3" fmla="*/ 848533 w 908557"/>
              <a:gd name="connsiteY3" fmla="*/ 685878 h 692203"/>
              <a:gd name="connsiteX4" fmla="*/ 908064 w 908557"/>
              <a:gd name="connsiteY4" fmla="*/ 578722 h 692203"/>
              <a:gd name="connsiteX5" fmla="*/ 898539 w 908557"/>
              <a:gd name="connsiteY5" fmla="*/ 66753 h 692203"/>
              <a:gd name="connsiteX6" fmla="*/ 829482 w 908557"/>
              <a:gd name="connsiteY6" fmla="*/ 14365 h 692203"/>
              <a:gd name="connsiteX7" fmla="*/ 46051 w 908557"/>
              <a:gd name="connsiteY7" fmla="*/ 276303 h 692203"/>
              <a:gd name="connsiteX8" fmla="*/ 807 w 908557"/>
              <a:gd name="connsiteY8" fmla="*/ 385842 h 692203"/>
              <a:gd name="connsiteX0" fmla="*/ 699 w 908449"/>
              <a:gd name="connsiteY0" fmla="*/ 385842 h 692203"/>
              <a:gd name="connsiteX1" fmla="*/ 699 w 908449"/>
              <a:gd name="connsiteY1" fmla="*/ 595390 h 692203"/>
              <a:gd name="connsiteX2" fmla="*/ 112618 w 908449"/>
              <a:gd name="connsiteY2" fmla="*/ 690641 h 692203"/>
              <a:gd name="connsiteX3" fmla="*/ 848425 w 908449"/>
              <a:gd name="connsiteY3" fmla="*/ 685878 h 692203"/>
              <a:gd name="connsiteX4" fmla="*/ 907956 w 908449"/>
              <a:gd name="connsiteY4" fmla="*/ 578722 h 692203"/>
              <a:gd name="connsiteX5" fmla="*/ 898431 w 908449"/>
              <a:gd name="connsiteY5" fmla="*/ 66753 h 692203"/>
              <a:gd name="connsiteX6" fmla="*/ 829374 w 908449"/>
              <a:gd name="connsiteY6" fmla="*/ 14365 h 692203"/>
              <a:gd name="connsiteX7" fmla="*/ 45943 w 908449"/>
              <a:gd name="connsiteY7" fmla="*/ 276303 h 692203"/>
              <a:gd name="connsiteX8" fmla="*/ 699 w 908449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0534"/>
              <a:gd name="connsiteY0" fmla="*/ 386399 h 692760"/>
              <a:gd name="connsiteX1" fmla="*/ 699 w 910534"/>
              <a:gd name="connsiteY1" fmla="*/ 595947 h 692760"/>
              <a:gd name="connsiteX2" fmla="*/ 112618 w 910534"/>
              <a:gd name="connsiteY2" fmla="*/ 691198 h 692760"/>
              <a:gd name="connsiteX3" fmla="*/ 848425 w 910534"/>
              <a:gd name="connsiteY3" fmla="*/ 686435 h 692760"/>
              <a:gd name="connsiteX4" fmla="*/ 907956 w 910534"/>
              <a:gd name="connsiteY4" fmla="*/ 579279 h 692760"/>
              <a:gd name="connsiteX5" fmla="*/ 910534 w 910534"/>
              <a:gd name="connsiteY5" fmla="*/ 67310 h 692760"/>
              <a:gd name="connsiteX6" fmla="*/ 829374 w 910534"/>
              <a:gd name="connsiteY6" fmla="*/ 14922 h 692760"/>
              <a:gd name="connsiteX7" fmla="*/ 45943 w 910534"/>
              <a:gd name="connsiteY7" fmla="*/ 276860 h 692760"/>
              <a:gd name="connsiteX8" fmla="*/ 699 w 910534"/>
              <a:gd name="connsiteY8" fmla="*/ 386399 h 692760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264 w 910099"/>
              <a:gd name="connsiteY0" fmla="*/ 384791 h 691326"/>
              <a:gd name="connsiteX1" fmla="*/ 264 w 910099"/>
              <a:gd name="connsiteY1" fmla="*/ 594339 h 691326"/>
              <a:gd name="connsiteX2" fmla="*/ 112183 w 910099"/>
              <a:gd name="connsiteY2" fmla="*/ 689590 h 691326"/>
              <a:gd name="connsiteX3" fmla="*/ 847990 w 910099"/>
              <a:gd name="connsiteY3" fmla="*/ 684827 h 691326"/>
              <a:gd name="connsiteX4" fmla="*/ 907521 w 910099"/>
              <a:gd name="connsiteY4" fmla="*/ 577671 h 691326"/>
              <a:gd name="connsiteX5" fmla="*/ 910099 w 910099"/>
              <a:gd name="connsiteY5" fmla="*/ 65702 h 691326"/>
              <a:gd name="connsiteX6" fmla="*/ 828939 w 910099"/>
              <a:gd name="connsiteY6" fmla="*/ 13314 h 691326"/>
              <a:gd name="connsiteX7" fmla="*/ 45508 w 910099"/>
              <a:gd name="connsiteY7" fmla="*/ 275252 h 691326"/>
              <a:gd name="connsiteX8" fmla="*/ 264 w 910099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365 w 910200"/>
              <a:gd name="connsiteY0" fmla="*/ 384791 h 691326"/>
              <a:gd name="connsiteX1" fmla="*/ 365 w 910200"/>
              <a:gd name="connsiteY1" fmla="*/ 594339 h 691326"/>
              <a:gd name="connsiteX2" fmla="*/ 112284 w 910200"/>
              <a:gd name="connsiteY2" fmla="*/ 689590 h 691326"/>
              <a:gd name="connsiteX3" fmla="*/ 848091 w 910200"/>
              <a:gd name="connsiteY3" fmla="*/ 684827 h 691326"/>
              <a:gd name="connsiteX4" fmla="*/ 907622 w 910200"/>
              <a:gd name="connsiteY4" fmla="*/ 577671 h 691326"/>
              <a:gd name="connsiteX5" fmla="*/ 910200 w 910200"/>
              <a:gd name="connsiteY5" fmla="*/ 65702 h 691326"/>
              <a:gd name="connsiteX6" fmla="*/ 829040 w 910200"/>
              <a:gd name="connsiteY6" fmla="*/ 13314 h 691326"/>
              <a:gd name="connsiteX7" fmla="*/ 45609 w 910200"/>
              <a:gd name="connsiteY7" fmla="*/ 275252 h 691326"/>
              <a:gd name="connsiteX8" fmla="*/ 365 w 910200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60014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89590"/>
              <a:gd name="connsiteX1" fmla="*/ 0 w 909835"/>
              <a:gd name="connsiteY1" fmla="*/ 594339 h 689590"/>
              <a:gd name="connsiteX2" fmla="*/ 60014 w 909835"/>
              <a:gd name="connsiteY2" fmla="*/ 689590 h 689590"/>
              <a:gd name="connsiteX3" fmla="*/ 847726 w 909835"/>
              <a:gd name="connsiteY3" fmla="*/ 684827 h 689590"/>
              <a:gd name="connsiteX4" fmla="*/ 907257 w 909835"/>
              <a:gd name="connsiteY4" fmla="*/ 577671 h 689590"/>
              <a:gd name="connsiteX5" fmla="*/ 909835 w 909835"/>
              <a:gd name="connsiteY5" fmla="*/ 65702 h 689590"/>
              <a:gd name="connsiteX6" fmla="*/ 828675 w 909835"/>
              <a:gd name="connsiteY6" fmla="*/ 13314 h 689590"/>
              <a:gd name="connsiteX7" fmla="*/ 45244 w 909835"/>
              <a:gd name="connsiteY7" fmla="*/ 275252 h 689590"/>
              <a:gd name="connsiteX8" fmla="*/ 0 w 909835"/>
              <a:gd name="connsiteY8" fmla="*/ 384791 h 689590"/>
              <a:gd name="connsiteX0" fmla="*/ 0 w 909835"/>
              <a:gd name="connsiteY0" fmla="*/ 384791 h 690195"/>
              <a:gd name="connsiteX1" fmla="*/ 0 w 909835"/>
              <a:gd name="connsiteY1" fmla="*/ 594339 h 690195"/>
              <a:gd name="connsiteX2" fmla="*/ 60014 w 909835"/>
              <a:gd name="connsiteY2" fmla="*/ 689590 h 690195"/>
              <a:gd name="connsiteX3" fmla="*/ 847726 w 909835"/>
              <a:gd name="connsiteY3" fmla="*/ 684827 h 690195"/>
              <a:gd name="connsiteX4" fmla="*/ 907257 w 909835"/>
              <a:gd name="connsiteY4" fmla="*/ 577671 h 690195"/>
              <a:gd name="connsiteX5" fmla="*/ 909835 w 909835"/>
              <a:gd name="connsiteY5" fmla="*/ 65702 h 690195"/>
              <a:gd name="connsiteX6" fmla="*/ 828675 w 909835"/>
              <a:gd name="connsiteY6" fmla="*/ 13314 h 690195"/>
              <a:gd name="connsiteX7" fmla="*/ 45244 w 909835"/>
              <a:gd name="connsiteY7" fmla="*/ 275252 h 690195"/>
              <a:gd name="connsiteX8" fmla="*/ 0 w 909835"/>
              <a:gd name="connsiteY8" fmla="*/ 384791 h 690195"/>
              <a:gd name="connsiteX0" fmla="*/ 0 w 909835"/>
              <a:gd name="connsiteY0" fmla="*/ 384791 h 689590"/>
              <a:gd name="connsiteX1" fmla="*/ 0 w 909835"/>
              <a:gd name="connsiteY1" fmla="*/ 580458 h 689590"/>
              <a:gd name="connsiteX2" fmla="*/ 60014 w 909835"/>
              <a:gd name="connsiteY2" fmla="*/ 689590 h 689590"/>
              <a:gd name="connsiteX3" fmla="*/ 847726 w 909835"/>
              <a:gd name="connsiteY3" fmla="*/ 684827 h 689590"/>
              <a:gd name="connsiteX4" fmla="*/ 907257 w 909835"/>
              <a:gd name="connsiteY4" fmla="*/ 577671 h 689590"/>
              <a:gd name="connsiteX5" fmla="*/ 909835 w 909835"/>
              <a:gd name="connsiteY5" fmla="*/ 65702 h 689590"/>
              <a:gd name="connsiteX6" fmla="*/ 828675 w 909835"/>
              <a:gd name="connsiteY6" fmla="*/ 13314 h 689590"/>
              <a:gd name="connsiteX7" fmla="*/ 45244 w 909835"/>
              <a:gd name="connsiteY7" fmla="*/ 275252 h 689590"/>
              <a:gd name="connsiteX8" fmla="*/ 0 w 909835"/>
              <a:gd name="connsiteY8" fmla="*/ 384791 h 689590"/>
              <a:gd name="connsiteX0" fmla="*/ 0 w 909835"/>
              <a:gd name="connsiteY0" fmla="*/ 388381 h 693180"/>
              <a:gd name="connsiteX1" fmla="*/ 0 w 909835"/>
              <a:gd name="connsiteY1" fmla="*/ 584048 h 693180"/>
              <a:gd name="connsiteX2" fmla="*/ 60014 w 909835"/>
              <a:gd name="connsiteY2" fmla="*/ 693180 h 693180"/>
              <a:gd name="connsiteX3" fmla="*/ 847726 w 909835"/>
              <a:gd name="connsiteY3" fmla="*/ 688417 h 693180"/>
              <a:gd name="connsiteX4" fmla="*/ 907257 w 909835"/>
              <a:gd name="connsiteY4" fmla="*/ 581261 h 693180"/>
              <a:gd name="connsiteX5" fmla="*/ 909835 w 909835"/>
              <a:gd name="connsiteY5" fmla="*/ 69292 h 693180"/>
              <a:gd name="connsiteX6" fmla="*/ 845679 w 909835"/>
              <a:gd name="connsiteY6" fmla="*/ 11351 h 693180"/>
              <a:gd name="connsiteX7" fmla="*/ 45244 w 909835"/>
              <a:gd name="connsiteY7" fmla="*/ 278842 h 693180"/>
              <a:gd name="connsiteX8" fmla="*/ 0 w 909835"/>
              <a:gd name="connsiteY8" fmla="*/ 388381 h 693180"/>
              <a:gd name="connsiteX0" fmla="*/ 0 w 909835"/>
              <a:gd name="connsiteY0" fmla="*/ 388381 h 693180"/>
              <a:gd name="connsiteX1" fmla="*/ 0 w 909835"/>
              <a:gd name="connsiteY1" fmla="*/ 584048 h 693180"/>
              <a:gd name="connsiteX2" fmla="*/ 60014 w 909835"/>
              <a:gd name="connsiteY2" fmla="*/ 693180 h 693180"/>
              <a:gd name="connsiteX3" fmla="*/ 847726 w 909835"/>
              <a:gd name="connsiteY3" fmla="*/ 688417 h 693180"/>
              <a:gd name="connsiteX4" fmla="*/ 907257 w 909835"/>
              <a:gd name="connsiteY4" fmla="*/ 581261 h 693180"/>
              <a:gd name="connsiteX5" fmla="*/ 909835 w 909835"/>
              <a:gd name="connsiteY5" fmla="*/ 69292 h 693180"/>
              <a:gd name="connsiteX6" fmla="*/ 845679 w 909835"/>
              <a:gd name="connsiteY6" fmla="*/ 11351 h 693180"/>
              <a:gd name="connsiteX7" fmla="*/ 45244 w 909835"/>
              <a:gd name="connsiteY7" fmla="*/ 278842 h 693180"/>
              <a:gd name="connsiteX8" fmla="*/ 0 w 909835"/>
              <a:gd name="connsiteY8" fmla="*/ 388381 h 693180"/>
              <a:gd name="connsiteX0" fmla="*/ 0 w 909835"/>
              <a:gd name="connsiteY0" fmla="*/ 387170 h 691969"/>
              <a:gd name="connsiteX1" fmla="*/ 0 w 909835"/>
              <a:gd name="connsiteY1" fmla="*/ 582837 h 691969"/>
              <a:gd name="connsiteX2" fmla="*/ 60014 w 909835"/>
              <a:gd name="connsiteY2" fmla="*/ 691969 h 691969"/>
              <a:gd name="connsiteX3" fmla="*/ 847726 w 909835"/>
              <a:gd name="connsiteY3" fmla="*/ 687206 h 691969"/>
              <a:gd name="connsiteX4" fmla="*/ 907257 w 909835"/>
              <a:gd name="connsiteY4" fmla="*/ 580050 h 691969"/>
              <a:gd name="connsiteX5" fmla="*/ 909835 w 909835"/>
              <a:gd name="connsiteY5" fmla="*/ 68081 h 691969"/>
              <a:gd name="connsiteX6" fmla="*/ 845679 w 909835"/>
              <a:gd name="connsiteY6" fmla="*/ 10140 h 691969"/>
              <a:gd name="connsiteX7" fmla="*/ 45244 w 909835"/>
              <a:gd name="connsiteY7" fmla="*/ 277631 h 691969"/>
              <a:gd name="connsiteX8" fmla="*/ 0 w 909835"/>
              <a:gd name="connsiteY8" fmla="*/ 387170 h 691969"/>
              <a:gd name="connsiteX0" fmla="*/ 0 w 909835"/>
              <a:gd name="connsiteY0" fmla="*/ 387170 h 691969"/>
              <a:gd name="connsiteX1" fmla="*/ 0 w 909835"/>
              <a:gd name="connsiteY1" fmla="*/ 582837 h 691969"/>
              <a:gd name="connsiteX2" fmla="*/ 60014 w 909835"/>
              <a:gd name="connsiteY2" fmla="*/ 691969 h 691969"/>
              <a:gd name="connsiteX3" fmla="*/ 847726 w 909835"/>
              <a:gd name="connsiteY3" fmla="*/ 687206 h 691969"/>
              <a:gd name="connsiteX4" fmla="*/ 907257 w 909835"/>
              <a:gd name="connsiteY4" fmla="*/ 580050 h 691969"/>
              <a:gd name="connsiteX5" fmla="*/ 909835 w 909835"/>
              <a:gd name="connsiteY5" fmla="*/ 68081 h 691969"/>
              <a:gd name="connsiteX6" fmla="*/ 845679 w 909835"/>
              <a:gd name="connsiteY6" fmla="*/ 10140 h 691969"/>
              <a:gd name="connsiteX7" fmla="*/ 45244 w 909835"/>
              <a:gd name="connsiteY7" fmla="*/ 277631 h 691969"/>
              <a:gd name="connsiteX8" fmla="*/ 0 w 909835"/>
              <a:gd name="connsiteY8" fmla="*/ 387170 h 691969"/>
              <a:gd name="connsiteX0" fmla="*/ 0 w 909835"/>
              <a:gd name="connsiteY0" fmla="*/ 387170 h 691969"/>
              <a:gd name="connsiteX1" fmla="*/ 0 w 909835"/>
              <a:gd name="connsiteY1" fmla="*/ 582837 h 691969"/>
              <a:gd name="connsiteX2" fmla="*/ 60014 w 909835"/>
              <a:gd name="connsiteY2" fmla="*/ 691969 h 691969"/>
              <a:gd name="connsiteX3" fmla="*/ 847726 w 909835"/>
              <a:gd name="connsiteY3" fmla="*/ 687206 h 691969"/>
              <a:gd name="connsiteX4" fmla="*/ 907257 w 909835"/>
              <a:gd name="connsiteY4" fmla="*/ 580050 h 691969"/>
              <a:gd name="connsiteX5" fmla="*/ 909835 w 909835"/>
              <a:gd name="connsiteY5" fmla="*/ 68081 h 691969"/>
              <a:gd name="connsiteX6" fmla="*/ 845679 w 909835"/>
              <a:gd name="connsiteY6" fmla="*/ 10140 h 691969"/>
              <a:gd name="connsiteX7" fmla="*/ 45244 w 909835"/>
              <a:gd name="connsiteY7" fmla="*/ 277631 h 691969"/>
              <a:gd name="connsiteX8" fmla="*/ 0 w 909835"/>
              <a:gd name="connsiteY8" fmla="*/ 387170 h 691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9835" h="691969">
                <a:moveTo>
                  <a:pt x="0" y="387170"/>
                </a:moveTo>
                <a:lnTo>
                  <a:pt x="0" y="582837"/>
                </a:lnTo>
                <a:cubicBezTo>
                  <a:pt x="314" y="693790"/>
                  <a:pt x="2172" y="691574"/>
                  <a:pt x="60014" y="691969"/>
                </a:cubicBezTo>
                <a:lnTo>
                  <a:pt x="847726" y="687206"/>
                </a:lnTo>
                <a:cubicBezTo>
                  <a:pt x="901495" y="687412"/>
                  <a:pt x="901708" y="648353"/>
                  <a:pt x="907257" y="580050"/>
                </a:cubicBezTo>
                <a:cubicBezTo>
                  <a:pt x="908116" y="409394"/>
                  <a:pt x="908976" y="238737"/>
                  <a:pt x="909835" y="68081"/>
                </a:cubicBezTo>
                <a:cubicBezTo>
                  <a:pt x="906309" y="-20324"/>
                  <a:pt x="891944" y="-1567"/>
                  <a:pt x="845679" y="10140"/>
                </a:cubicBezTo>
                <a:lnTo>
                  <a:pt x="45244" y="277631"/>
                </a:lnTo>
                <a:cubicBezTo>
                  <a:pt x="-3528" y="296576"/>
                  <a:pt x="701" y="315148"/>
                  <a:pt x="0" y="38717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2168525" y="4609503"/>
            <a:ext cx="6315075" cy="6175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a-RU" dirty="0"/>
              <a:t>П</a:t>
            </a:r>
            <a:r>
              <a:rPr lang="ru-RU" dirty="0" err="1"/>
              <a:t>одзаголовок</a:t>
            </a:r>
            <a:endParaRPr lang="ru-RU" dirty="0"/>
          </a:p>
        </p:txBody>
      </p:sp>
      <p:sp>
        <p:nvSpPr>
          <p:cNvPr id="21" name="Подзаголовок 2"/>
          <p:cNvSpPr txBox="1">
            <a:spLocks/>
          </p:cNvSpPr>
          <p:nvPr userDrawn="1"/>
        </p:nvSpPr>
        <p:spPr>
          <a:xfrm>
            <a:off x="10764611" y="6198688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tx1"/>
                </a:solidFill>
              </a:rPr>
              <a:t>uust.ru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22" name="Прямая соединительная линия 21"/>
          <p:cNvCxnSpPr/>
          <p:nvPr userDrawn="1"/>
        </p:nvCxnSpPr>
        <p:spPr>
          <a:xfrm flipH="1">
            <a:off x="10764611" y="6580776"/>
            <a:ext cx="1427389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7E17F2-3CC4-B00E-27FE-B100C036B9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341" y="490752"/>
            <a:ext cx="2422612" cy="50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52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49890" y="6241143"/>
            <a:ext cx="11601451" cy="39188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одзаголовок 2"/>
          <p:cNvSpPr txBox="1">
            <a:spLocks/>
          </p:cNvSpPr>
          <p:nvPr userDrawn="1"/>
        </p:nvSpPr>
        <p:spPr>
          <a:xfrm>
            <a:off x="10764611" y="6246586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590548" y="2119745"/>
            <a:ext cx="11106152" cy="3857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13" name="Текст 4"/>
          <p:cNvSpPr>
            <a:spLocks noGrp="1"/>
          </p:cNvSpPr>
          <p:nvPr>
            <p:ph type="body" sz="quarter" idx="13" hasCustomPrompt="1"/>
          </p:nvPr>
        </p:nvSpPr>
        <p:spPr>
          <a:xfrm>
            <a:off x="590268" y="1269546"/>
            <a:ext cx="11106432" cy="5865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13A6F7-2742-3083-E2DC-794A5C5D8D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341" y="490752"/>
            <a:ext cx="2422612" cy="509211"/>
          </a:xfrm>
          <a:prstGeom prst="rect">
            <a:avLst/>
          </a:prstGeom>
        </p:spPr>
      </p:pic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C0CCBB3D-6731-49C7-EAE6-824574790335}"/>
              </a:ext>
            </a:extLst>
          </p:cNvPr>
          <p:cNvSpPr txBox="1">
            <a:spLocks/>
          </p:cNvSpPr>
          <p:nvPr userDrawn="1"/>
        </p:nvSpPr>
        <p:spPr>
          <a:xfrm>
            <a:off x="764341" y="6242216"/>
            <a:ext cx="3716219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000" dirty="0">
              <a:solidFill>
                <a:schemeClr val="bg2">
                  <a:lumMod val="75000"/>
                </a:schemeClr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7605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417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10" Type="http://schemas.openxmlformats.org/officeDocument/2006/relationships/image" Target="../media/image9.wmf"/><Relationship Id="rId4" Type="http://schemas.openxmlformats.org/officeDocument/2006/relationships/image" Target="../media/image10.png"/><Relationship Id="rId9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jp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C17C9070-C464-2FE9-FC8A-0ECE847FF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007" y="2394023"/>
            <a:ext cx="9189720" cy="1000374"/>
          </a:xfrm>
        </p:spPr>
        <p:txBody>
          <a:bodyPr>
            <a:noAutofit/>
          </a:bodyPr>
          <a:lstStyle/>
          <a:p>
            <a:pPr algn="ctr"/>
            <a:r>
              <a:rPr lang="ru-RU" sz="3200" dirty="0"/>
              <a:t>МАТЕМАТИЧЕСКОЕ И ПРОГРАММНОЕ ОБЕСПЕЧЕНИЕ СИСТЕМЫ УПРАВЛЕНИЯ ЗАПАСАМИ НА СКЛАДЕ</a:t>
            </a:r>
          </a:p>
        </p:txBody>
      </p:sp>
      <p:sp>
        <p:nvSpPr>
          <p:cNvPr id="9" name="Подзаголовок 8">
            <a:extLst>
              <a:ext uri="{FF2B5EF4-FFF2-40B4-BE49-F238E27FC236}">
                <a16:creationId xmlns:a16="http://schemas.microsoft.com/office/drawing/2014/main" id="{891DC945-4E83-0D2D-5943-1DE9F0383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2033" y="4233293"/>
            <a:ext cx="7606411" cy="145296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dirty="0">
                <a:latin typeface="Golos Text" panose="020B0503020202020204" pitchFamily="34" charset="0"/>
                <a:ea typeface="Golos Text" panose="020B0503020202020204" pitchFamily="34" charset="0"/>
              </a:rPr>
              <a:t>Докладчик: студент группы МО-424Б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dirty="0" err="1">
                <a:latin typeface="Golos Text" panose="020B0503020202020204" pitchFamily="34" charset="0"/>
                <a:ea typeface="Golos Text" panose="020B0503020202020204" pitchFamily="34" charset="0"/>
              </a:rPr>
              <a:t>Габбасова</a:t>
            </a:r>
            <a:r>
              <a:rPr lang="ru-RU" sz="2000" dirty="0">
                <a:latin typeface="Golos Text" panose="020B0503020202020204" pitchFamily="34" charset="0"/>
                <a:ea typeface="Golos Text" panose="020B0503020202020204" pitchFamily="34" charset="0"/>
              </a:rPr>
              <a:t> И. И.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dirty="0">
                <a:latin typeface="Golos Text" panose="020B0503020202020204" pitchFamily="34" charset="0"/>
                <a:ea typeface="Golos Text" panose="020B0503020202020204" pitchFamily="34" charset="0"/>
              </a:rPr>
              <a:t>Руководитель: к.т.н., доцент кафедры ВМиК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dirty="0" err="1">
                <a:latin typeface="Golos Text" panose="020B0503020202020204" pitchFamily="34" charset="0"/>
                <a:ea typeface="Golos Text" panose="020B0503020202020204" pitchFamily="34" charset="0"/>
              </a:rPr>
              <a:t>Нургаянова</a:t>
            </a:r>
            <a:r>
              <a:rPr lang="ru-RU" sz="2000" dirty="0">
                <a:latin typeface="Golos Text" panose="020B0503020202020204" pitchFamily="34" charset="0"/>
                <a:ea typeface="Golos Text" panose="020B0503020202020204" pitchFamily="34" charset="0"/>
              </a:rPr>
              <a:t> О.С.</a:t>
            </a:r>
          </a:p>
        </p:txBody>
      </p:sp>
    </p:spTree>
    <p:extLst>
      <p:ext uri="{BB962C8B-B14F-4D97-AF65-F5344CB8AC3E}">
        <p14:creationId xmlns:p14="http://schemas.microsoft.com/office/powerpoint/2010/main" val="245191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5302970" y="282684"/>
            <a:ext cx="26032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rgbClr val="5412D5"/>
                </a:solidFill>
              </a:rPr>
              <a:t>Актуальность</a:t>
            </a:r>
            <a:endParaRPr 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1009376" y="6272784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2581" y="1291206"/>
            <a:ext cx="11343597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Рост товарооборота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Увеличение конкуренции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Необходимость автоматизации учета и управления запасами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Предотвращение избытка и дефицита товаров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Уменьшение вероятности человеческой 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</a:rPr>
              <a:t>ошибки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Планирование на основе тенденций 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</a:rPr>
              <a:t>и истории продаж</a:t>
            </a:r>
          </a:p>
          <a:p>
            <a:pPr>
              <a:lnSpc>
                <a:spcPct val="150000"/>
              </a:lnSpc>
            </a:pPr>
            <a:endParaRPr lang="ru-RU" sz="2000" dirty="0">
              <a:solidFill>
                <a:srgbClr val="00000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4CBFE74-8536-43B1-8D39-AB13F2021C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857" y="3299075"/>
            <a:ext cx="6651172" cy="24301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D922B5-F450-4711-A4C1-129874D1E1D1}"/>
              </a:ext>
            </a:extLst>
          </p:cNvPr>
          <p:cNvSpPr txBox="1"/>
          <p:nvPr/>
        </p:nvSpPr>
        <p:spPr>
          <a:xfrm>
            <a:off x="7612269" y="5878761"/>
            <a:ext cx="26669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Данные с сайта РУКОН АФК</a:t>
            </a:r>
          </a:p>
        </p:txBody>
      </p:sp>
    </p:spTree>
    <p:extLst>
      <p:ext uri="{BB962C8B-B14F-4D97-AF65-F5344CB8AC3E}">
        <p14:creationId xmlns:p14="http://schemas.microsoft.com/office/powerpoint/2010/main" val="411466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5155486" y="459664"/>
            <a:ext cx="32696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rgbClr val="5412D5"/>
                </a:solidFill>
              </a:rPr>
              <a:t>ЦЕЛЬ И ЗАДАЧИ ВКР</a:t>
            </a:r>
            <a:endParaRPr 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1009376" y="6272784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FDA5C17-3EAE-4D09-A0E6-F47E97DB19A6}"/>
              </a:ext>
            </a:extLst>
          </p:cNvPr>
          <p:cNvSpPr txBox="1">
            <a:spLocks/>
          </p:cNvSpPr>
          <p:nvPr/>
        </p:nvSpPr>
        <p:spPr>
          <a:xfrm>
            <a:off x="497447" y="1427694"/>
            <a:ext cx="11309854" cy="551922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ru-RU" sz="2000" b="1" dirty="0"/>
              <a:t>Цель: </a:t>
            </a:r>
            <a:r>
              <a:rPr lang="ru-RU" sz="2000" dirty="0"/>
              <a:t>разработка математического и программного обеспечения, направленного на автоматизацию учета остатков и анализ продаж.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ru-RU" sz="2000" b="1" dirty="0"/>
              <a:t>Задачи: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2000" dirty="0"/>
              <a:t>1. Выполнить анализ предметной области и обзор существующих решений по управлению запасами.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2000" dirty="0"/>
              <a:t>2. Провести анализ моделей и методов по управлению запасами и выбрать наиболее подходящую.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2000" dirty="0"/>
              <a:t>3. Разработать алгоритмическое и программное обеспечение на платформе 1С.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2000" dirty="0"/>
              <a:t>4. Провести вычислительные эксперименты и выполнить оценку качества ПО.</a:t>
            </a:r>
          </a:p>
        </p:txBody>
      </p:sp>
    </p:spTree>
    <p:extLst>
      <p:ext uri="{BB962C8B-B14F-4D97-AF65-F5344CB8AC3E}">
        <p14:creationId xmlns:p14="http://schemas.microsoft.com/office/powerpoint/2010/main" val="1196276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5155486" y="459664"/>
            <a:ext cx="50589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rgbClr val="5412D5"/>
                </a:solidFill>
              </a:rPr>
              <a:t>Формальная постановка задачи</a:t>
            </a:r>
            <a:endParaRPr 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1009376" y="6272784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FDA5C17-3EAE-4D09-A0E6-F47E97DB19A6}"/>
              </a:ext>
            </a:extLst>
          </p:cNvPr>
          <p:cNvSpPr txBox="1">
            <a:spLocks/>
          </p:cNvSpPr>
          <p:nvPr/>
        </p:nvSpPr>
        <p:spPr>
          <a:xfrm>
            <a:off x="497447" y="1427694"/>
            <a:ext cx="11066478" cy="551922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600"/>
              </a:spcBef>
            </a:pPr>
            <a:endParaRPr lang="ru-RU" sz="20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82A5526-29F5-46AE-A731-840751682F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71" t="22381" r="29911" b="12857"/>
          <a:stretch/>
        </p:blipFill>
        <p:spPr>
          <a:xfrm>
            <a:off x="1238174" y="982884"/>
            <a:ext cx="9715651" cy="512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199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5155486" y="459664"/>
            <a:ext cx="31363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rgbClr val="5412D5"/>
                </a:solidFill>
              </a:rPr>
              <a:t>Структура решения</a:t>
            </a:r>
            <a:endParaRPr 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1009376" y="6272784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5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FDA5C17-3EAE-4D09-A0E6-F47E97DB19A6}"/>
              </a:ext>
            </a:extLst>
          </p:cNvPr>
          <p:cNvSpPr txBox="1">
            <a:spLocks/>
          </p:cNvSpPr>
          <p:nvPr/>
        </p:nvSpPr>
        <p:spPr>
          <a:xfrm>
            <a:off x="497447" y="1427694"/>
            <a:ext cx="11066478" cy="551922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600"/>
              </a:spcBef>
            </a:pPr>
            <a:endParaRPr lang="ru-RU" sz="20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AA271A6-FB2F-404F-BD61-1B88E70385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3" t="22064" r="29911" b="13814"/>
          <a:stretch/>
        </p:blipFill>
        <p:spPr>
          <a:xfrm>
            <a:off x="1284154" y="1132114"/>
            <a:ext cx="9623691" cy="501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687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5302970" y="282684"/>
            <a:ext cx="49534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rgbClr val="5412D5"/>
                </a:solidFill>
              </a:rPr>
              <a:t>Обзор существующих решений</a:t>
            </a:r>
            <a:endParaRPr 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1009376" y="6272784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6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graphicFrame>
        <p:nvGraphicFramePr>
          <p:cNvPr id="2" name="Таблица 5">
            <a:extLst>
              <a:ext uri="{FF2B5EF4-FFF2-40B4-BE49-F238E27FC236}">
                <a16:creationId xmlns:a16="http://schemas.microsoft.com/office/drawing/2014/main" id="{6389B49F-5EBE-406C-9FF9-2879F157D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867589"/>
              </p:ext>
            </p:extLst>
          </p:nvPr>
        </p:nvGraphicFramePr>
        <p:xfrm>
          <a:off x="1118586" y="1482570"/>
          <a:ext cx="10111668" cy="4405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7917">
                  <a:extLst>
                    <a:ext uri="{9D8B030D-6E8A-4147-A177-3AD203B41FA5}">
                      <a16:colId xmlns:a16="http://schemas.microsoft.com/office/drawing/2014/main" val="1107711956"/>
                    </a:ext>
                  </a:extLst>
                </a:gridCol>
                <a:gridCol w="2527917">
                  <a:extLst>
                    <a:ext uri="{9D8B030D-6E8A-4147-A177-3AD203B41FA5}">
                      <a16:colId xmlns:a16="http://schemas.microsoft.com/office/drawing/2014/main" val="2603654955"/>
                    </a:ext>
                  </a:extLst>
                </a:gridCol>
                <a:gridCol w="2527917">
                  <a:extLst>
                    <a:ext uri="{9D8B030D-6E8A-4147-A177-3AD203B41FA5}">
                      <a16:colId xmlns:a16="http://schemas.microsoft.com/office/drawing/2014/main" val="4203388634"/>
                    </a:ext>
                  </a:extLst>
                </a:gridCol>
                <a:gridCol w="2527917">
                  <a:extLst>
                    <a:ext uri="{9D8B030D-6E8A-4147-A177-3AD203B41FA5}">
                      <a16:colId xmlns:a16="http://schemas.microsoft.com/office/drawing/2014/main" val="273092199"/>
                    </a:ext>
                  </a:extLst>
                </a:gridCol>
              </a:tblGrid>
              <a:tr h="799481"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Программное 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Краткое 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Преимущества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Недостатки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127164"/>
                  </a:ext>
                </a:extLst>
              </a:tr>
              <a:tr h="77186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1С:Управление торговлей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Автоматизация учета и управление торговлей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Гибкость, интеграция, широкий функционал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Сложность освоения, цена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923654"/>
                  </a:ext>
                </a:extLst>
              </a:tr>
              <a:tr h="463191"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МойСклад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Облачный сервис для учета и торговли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Простота, доступ онлайн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Зависимость от интернета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648442"/>
                  </a:ext>
                </a:extLst>
              </a:tr>
              <a:tr h="463191"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Антисклад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Простой инструмент автоматизации склада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Легкость внедрения, цена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Ограниченный функционал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274915"/>
                  </a:ext>
                </a:extLst>
              </a:tr>
              <a:tr h="549305"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Бизнес.ру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Онлайн-сервис для учета и автоматизации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Универсальность, интеграция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Абонентская плата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176066"/>
                  </a:ext>
                </a:extLst>
              </a:tr>
              <a:tr h="46319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1С:Розница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Автоматизация розничной торговли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Управление ассортиментом, интеграция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Ограниченность для оптовой торговли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145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010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655076" y="459664"/>
            <a:ext cx="7817012" cy="6718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800"/>
              </a:spcAft>
              <a:tabLst>
                <a:tab pos="1933575" algn="l"/>
              </a:tabLst>
            </a:pPr>
            <a:r>
              <a:rPr lang="ru-RU" sz="2800" dirty="0">
                <a:solidFill>
                  <a:schemeClr val="accent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Модель Уилсона </a:t>
            </a:r>
            <a:r>
              <a:rPr lang="en-US" sz="2800" dirty="0">
                <a:solidFill>
                  <a:schemeClr val="accent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EOQ (economic order </a:t>
            </a:r>
            <a:r>
              <a:rPr lang="en-US" sz="2800" dirty="0">
                <a:solidFill>
                  <a:schemeClr val="accent1"/>
                </a:solidFill>
              </a:rPr>
              <a:t>quantity)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9376" y="6272784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7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pic>
        <p:nvPicPr>
          <p:cNvPr id="7" name="Изображение 29">
            <a:extLst>
              <a:ext uri="{FF2B5EF4-FFF2-40B4-BE49-F238E27FC236}">
                <a16:creationId xmlns:a16="http://schemas.microsoft.com/office/drawing/2014/main" id="{13C4E40E-8049-4F44-AF60-90F2C8F50F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16" t="28171" r="25283" b="12830"/>
          <a:stretch>
            <a:fillRect/>
          </a:stretch>
        </p:blipFill>
        <p:spPr>
          <a:xfrm>
            <a:off x="5191432" y="1844059"/>
            <a:ext cx="6766449" cy="44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A907506-4285-454D-80F7-C4CEFC245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471" y="1499707"/>
            <a:ext cx="9157148" cy="2119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90800" algn="l"/>
                <a:tab pos="38100000" algn="l"/>
              </a:tabLs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экономического размера заказа EOQ производится по формуле: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90800" algn="l"/>
                <a:tab pos="38100000" algn="l"/>
              </a:tabLs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где K – затраты на поставку заказа, включая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90800" algn="l"/>
                <a:tab pos="38100000" algn="l"/>
              </a:tabLs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и доставку товара;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90800" algn="l"/>
                <a:tab pos="38100000" algn="l"/>
              </a:tabLs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 – интенсивность потребления запаса;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90800" algn="l"/>
                <a:tab pos="38100000" algn="l"/>
              </a:tabLs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 – затраты на хранение.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AEB975D-8AFF-4B85-80DD-D47DD9420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116" y="1472927"/>
            <a:ext cx="1708684" cy="501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553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5155486" y="459664"/>
            <a:ext cx="27590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5412D5"/>
                </a:solidFill>
              </a:rPr>
              <a:t>ABC</a:t>
            </a:r>
            <a:r>
              <a:rPr lang="ru-RU" sz="2800" dirty="0">
                <a:solidFill>
                  <a:srgbClr val="5412D5"/>
                </a:solidFill>
              </a:rPr>
              <a:t>-анализ (1</a:t>
            </a:r>
            <a:r>
              <a:rPr lang="en-US" sz="2800" dirty="0">
                <a:solidFill>
                  <a:srgbClr val="5412D5"/>
                </a:solidFill>
              </a:rPr>
              <a:t>/2</a:t>
            </a:r>
            <a:r>
              <a:rPr lang="ru-RU" sz="2800" dirty="0">
                <a:solidFill>
                  <a:srgbClr val="5412D5"/>
                </a:solidFill>
              </a:rPr>
              <a:t>)</a:t>
            </a:r>
            <a:endParaRPr 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1009376" y="6272784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  <a:r>
              <a:rPr lang="ru-RU" dirty="0"/>
              <a:t>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907506-4285-454D-80F7-C4CEFC245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83" y="1376517"/>
            <a:ext cx="6471210" cy="269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90800" algn="l"/>
                <a:tab pos="38100000" algn="l"/>
              </a:tabLst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-анализ делит товары на три категории: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20% </a:t>
            </a: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общего количества и 80% продаж;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30% общего количества и 15% продаж;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– </a:t>
            </a:r>
            <a:r>
              <a:rPr lang="en-US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50% </a:t>
            </a: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общего количества и 5% продаж.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90800" algn="l"/>
                <a:tab pos="38100000" algn="l"/>
              </a:tabLs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  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0CB34B8-22DA-4AF6-9B3C-14765051C7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126" y="1759976"/>
            <a:ext cx="7158874" cy="440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218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09376" y="6272784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9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907506-4285-454D-80F7-C4CEFC245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797" y="930685"/>
            <a:ext cx="11265763" cy="5467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90800" algn="l"/>
                <a:tab pos="38100000" algn="l"/>
              </a:tabLst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-анализ предполагает выполнение следующих действий: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2590800" algn="l"/>
                <a:tab pos="38100000" algn="l"/>
              </a:tabLst>
            </a:pP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Создается таблица, в которой хранится информация о номенклатуре.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2590800" algn="l"/>
                <a:tab pos="38100000" algn="l"/>
              </a:tabLst>
            </a:pP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Выбирается критерий, согласно которому будет производится классификация.</a:t>
            </a:r>
          </a:p>
          <a:p>
            <a:pPr marL="342900" indent="-342900" algn="just">
              <a:lnSpc>
                <a:spcPct val="150000"/>
              </a:lnSpc>
              <a:buFontTx/>
              <a:buAutoNum type="arabicPeriod"/>
            </a:pP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Полученные значения показателей   </a:t>
            </a:r>
            <a:r>
              <a:rPr lang="ru-RU" altLang="ru-RU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располагаются в порядке убывания:</a:t>
            </a:r>
            <a:endParaRPr lang="ru-RU" altLang="ru-RU" dirty="0"/>
          </a:p>
          <a:p>
            <a:pPr lvl="8" algn="just">
              <a:lnSpc>
                <a:spcPct val="150000"/>
              </a:lnSpc>
            </a:pP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.</a:t>
            </a:r>
          </a:p>
          <a:p>
            <a:pPr marL="342900" lvl="0" indent="-342900" algn="just">
              <a:lnSpc>
                <a:spcPct val="150000"/>
              </a:lnSpc>
              <a:buFontTx/>
              <a:buAutoNum type="arabicPeriod"/>
            </a:pP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Далее осуществляется присвоение новых индексов: </a:t>
            </a:r>
            <a:r>
              <a:rPr lang="en-US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a=1, b=2, …, m=N, </a:t>
            </a: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en-US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количество номенклатуры:</a:t>
            </a:r>
            <a:endParaRPr lang="en-US" alt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 algn="just">
              <a:lnSpc>
                <a:spcPct val="150000"/>
              </a:lnSpc>
            </a:pP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.</a:t>
            </a:r>
            <a:endParaRPr lang="en-US" alt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Tx/>
              <a:buAutoNum type="arabicPeriod"/>
            </a:pP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Затем для каждой позиции номенклатуры вычисляется ее доля в общем объеме (в процента) согласно выбранному критерию:</a:t>
            </a:r>
          </a:p>
          <a:p>
            <a:pPr algn="just"/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                                             ,</a:t>
            </a:r>
          </a:p>
          <a:p>
            <a:pPr algn="just">
              <a:lnSpc>
                <a:spcPct val="150000"/>
              </a:lnSpc>
            </a:pP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где   С</a:t>
            </a:r>
            <a:r>
              <a:rPr lang="ru-RU" altLang="ru-RU" sz="1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стоимостной критерий</a:t>
            </a:r>
            <a:r>
              <a:rPr lang="en-US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общее число позиций номенклатуры.</a:t>
            </a:r>
          </a:p>
          <a:p>
            <a:pPr algn="just">
              <a:lnSpc>
                <a:spcPct val="150000"/>
              </a:lnSpc>
            </a:pP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Величины   </a:t>
            </a:r>
            <a:r>
              <a:rPr lang="ru-RU" altLang="ru-RU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суммируются с нарастанием:</a:t>
            </a:r>
            <a:endParaRPr lang="ru-RU" altLang="ru-RU" dirty="0"/>
          </a:p>
          <a:p>
            <a:pPr algn="just">
              <a:lnSpc>
                <a:spcPct val="150000"/>
              </a:lnSpc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                                 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E2D09F0-CA58-43B1-A074-08E917975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713" y="2384311"/>
            <a:ext cx="207054" cy="27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62EA8D9A-60BB-48D3-B895-A981B4534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679" y="2790529"/>
            <a:ext cx="2228850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C8C122FF-6267-4DBC-8849-B5AABE43F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204" y="3590597"/>
            <a:ext cx="2219325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>
            <a:extLst>
              <a:ext uri="{FF2B5EF4-FFF2-40B4-BE49-F238E27FC236}">
                <a16:creationId xmlns:a16="http://schemas.microsoft.com/office/drawing/2014/main" id="{2A72120C-F7C0-45C8-A741-6AC882D67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990" y="4691135"/>
            <a:ext cx="1095375" cy="35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5903DB1B-A77C-45A3-94D5-A1C19A8AE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9177" y="5765390"/>
            <a:ext cx="1905000" cy="32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AE7B0C1-076D-4C15-9F4B-A39692B4984B}"/>
              </a:ext>
            </a:extLst>
          </p:cNvPr>
          <p:cNvSpPr/>
          <p:nvPr/>
        </p:nvSpPr>
        <p:spPr>
          <a:xfrm>
            <a:off x="5155486" y="459664"/>
            <a:ext cx="27590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5412D5"/>
                </a:solidFill>
              </a:rPr>
              <a:t>ABC</a:t>
            </a:r>
            <a:r>
              <a:rPr lang="ru-RU" sz="2800" dirty="0">
                <a:solidFill>
                  <a:srgbClr val="5412D5"/>
                </a:solidFill>
              </a:rPr>
              <a:t>-анализ (2</a:t>
            </a:r>
            <a:r>
              <a:rPr lang="en-US" sz="2800" dirty="0">
                <a:solidFill>
                  <a:srgbClr val="5412D5"/>
                </a:solidFill>
              </a:rPr>
              <a:t>/2</a:t>
            </a:r>
            <a:r>
              <a:rPr lang="ru-RU" sz="2800" dirty="0">
                <a:solidFill>
                  <a:srgbClr val="5412D5"/>
                </a:solidFill>
              </a:rPr>
              <a:t>)</a:t>
            </a:r>
            <a:endParaRPr lang="ru-RU" sz="28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BF8A2E1-BE08-4D7C-8567-C355DF317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5E938077-A843-4272-BA89-47549224A6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798149"/>
              </p:ext>
            </p:extLst>
          </p:nvPr>
        </p:nvGraphicFramePr>
        <p:xfrm>
          <a:off x="1941787" y="5441541"/>
          <a:ext cx="231321" cy="323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Формула" r:id="rId9" imgW="177480" imgH="241200" progId="Equation.3">
                  <p:embed/>
                </p:oleObj>
              </mc:Choice>
              <mc:Fallback>
                <p:oleObj name="Формула" r:id="rId9" imgW="177480" imgH="241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787" y="5441541"/>
                        <a:ext cx="231321" cy="3238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>
            <a:extLst>
              <a:ext uri="{FF2B5EF4-FFF2-40B4-BE49-F238E27FC236}">
                <a16:creationId xmlns:a16="http://schemas.microsoft.com/office/drawing/2014/main" id="{6181CDBE-BEC5-4070-B177-69A309908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5529" y="5727260"/>
            <a:ext cx="4713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.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5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5155486" y="459664"/>
            <a:ext cx="1886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5412D5"/>
                </a:solidFill>
              </a:rPr>
              <a:t>XYZ-</a:t>
            </a:r>
            <a:r>
              <a:rPr lang="ru-RU" sz="2800" dirty="0">
                <a:solidFill>
                  <a:srgbClr val="5412D5"/>
                </a:solidFill>
              </a:rPr>
              <a:t>анализ</a:t>
            </a:r>
            <a:endParaRPr 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10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907506-4285-454D-80F7-C4CEFC245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349" y="1543477"/>
            <a:ext cx="8722321" cy="4380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90800" algn="l"/>
                <a:tab pos="38100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90800" algn="l"/>
                <a:tab pos="38100000" algn="l"/>
              </a:tabLs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Деление на группы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 Y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происходит в соответствии с коэффициентом вариации.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менее 10%;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от 10% до 25%;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более 25%.</a:t>
            </a:r>
          </a:p>
          <a:p>
            <a:pPr lvl="0" algn="just">
              <a:lnSpc>
                <a:spcPct val="150000"/>
              </a:lnSpc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Коэффициент вариации вычисляется по формуле:</a:t>
            </a:r>
          </a:p>
          <a:p>
            <a:pPr lvl="0" algn="just">
              <a:lnSpc>
                <a:spcPct val="150000"/>
              </a:lnSpc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,</a:t>
            </a:r>
          </a:p>
          <a:p>
            <a:pPr lvl="0" algn="just">
              <a:lnSpc>
                <a:spcPct val="150000"/>
              </a:lnSpc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Где величина среднего значения ряда    и среднего </a:t>
            </a:r>
          </a:p>
          <a:p>
            <a:pPr lvl="0" algn="just">
              <a:lnSpc>
                <a:spcPct val="150000"/>
              </a:lnSpc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квадратического отклонения        вычисляются по формулам: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90800" algn="l"/>
                <a:tab pos="38100000" algn="l"/>
              </a:tabLs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90800" algn="l"/>
                <a:tab pos="38100000" algn="l"/>
              </a:tabLs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                                                               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B0DD8D4-F5F3-4CFE-8B76-4A07D214F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675" y="2153175"/>
            <a:ext cx="5641325" cy="3760883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8C5BA8BD-D30E-4DEC-8C68-F47902279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550" y="4093953"/>
            <a:ext cx="190500" cy="366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D9D88D9F-A5C3-4DF0-A3E6-CB242A6AA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164" y="4578092"/>
            <a:ext cx="254696" cy="318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694E21E2-5DF6-4282-BD7C-F89488AF8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8455" y="3781394"/>
            <a:ext cx="1236419" cy="366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7C9CF8-216C-4AF8-8ECD-E00C3745A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149" y="5071089"/>
            <a:ext cx="1272975" cy="315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2">
            <a:extLst>
              <a:ext uri="{FF2B5EF4-FFF2-40B4-BE49-F238E27FC236}">
                <a16:creationId xmlns:a16="http://schemas.microsoft.com/office/drawing/2014/main" id="{756D845A-6338-4579-A579-998E018DC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8455" y="5645185"/>
            <a:ext cx="1449122" cy="486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5463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764836" y="450139"/>
            <a:ext cx="76209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rgbClr val="5412D5"/>
                </a:solidFill>
              </a:rPr>
              <a:t>Основные алгоритмы, реализованные в системе</a:t>
            </a:r>
            <a:endParaRPr 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11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24835B1-31B6-47B2-99A5-4FFD7A33A7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342" t="20345" r="45760" b="10569"/>
          <a:stretch/>
        </p:blipFill>
        <p:spPr>
          <a:xfrm>
            <a:off x="124778" y="1059997"/>
            <a:ext cx="3157420" cy="473800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9B882EE-B7BB-4D05-B72E-D8125564D1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098" t="18968" r="29948" b="11430"/>
          <a:stretch/>
        </p:blipFill>
        <p:spPr>
          <a:xfrm>
            <a:off x="3670174" y="1059997"/>
            <a:ext cx="2554664" cy="477319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13FC984-5883-46EE-8702-CDC967ABF28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3350" t="18832" r="27364" b="10606"/>
          <a:stretch/>
        </p:blipFill>
        <p:spPr>
          <a:xfrm>
            <a:off x="6563730" y="1059997"/>
            <a:ext cx="2351317" cy="483918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C9335E4-E60E-4756-8DEF-8B4FDB383E7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0696" t="17732" r="16881" b="10652"/>
          <a:stretch/>
        </p:blipFill>
        <p:spPr>
          <a:xfrm>
            <a:off x="9030878" y="1059997"/>
            <a:ext cx="2733774" cy="49113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D603117-BDE5-4867-BAD2-9C5AA98FF221}"/>
              </a:ext>
            </a:extLst>
          </p:cNvPr>
          <p:cNvSpPr txBox="1"/>
          <p:nvPr/>
        </p:nvSpPr>
        <p:spPr>
          <a:xfrm>
            <a:off x="424584" y="5783344"/>
            <a:ext cx="2557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rgbClr val="000000"/>
                </a:solidFill>
              </a:rPr>
              <a:t>Алгоритм добавления номенклатуры</a:t>
            </a:r>
            <a:r>
              <a:rPr lang="en-US" sz="1200" dirty="0">
                <a:solidFill>
                  <a:srgbClr val="000000"/>
                </a:solidFill>
              </a:rPr>
              <a:t>/</a:t>
            </a:r>
            <a:r>
              <a:rPr lang="ru-RU" sz="1200" dirty="0">
                <a:solidFill>
                  <a:srgbClr val="000000"/>
                </a:solidFill>
              </a:rPr>
              <a:t>склада</a:t>
            </a:r>
            <a:r>
              <a:rPr lang="en-US" sz="1200" dirty="0">
                <a:solidFill>
                  <a:srgbClr val="000000"/>
                </a:solidFill>
              </a:rPr>
              <a:t>/</a:t>
            </a:r>
            <a:r>
              <a:rPr lang="ru-RU" sz="1200" dirty="0">
                <a:solidFill>
                  <a:srgbClr val="000000"/>
                </a:solidFill>
              </a:rPr>
              <a:t>поставщика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BE0BC2-7012-4532-BF46-2A5AFAE68ABA}"/>
              </a:ext>
            </a:extLst>
          </p:cNvPr>
          <p:cNvSpPr txBox="1"/>
          <p:nvPr/>
        </p:nvSpPr>
        <p:spPr>
          <a:xfrm>
            <a:off x="3538192" y="5798003"/>
            <a:ext cx="2557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rgbClr val="000000"/>
                </a:solidFill>
              </a:rPr>
              <a:t>Алгоритм создания заявки на поставку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E81117-A3FC-41FF-B598-F28C011C1E12}"/>
              </a:ext>
            </a:extLst>
          </p:cNvPr>
          <p:cNvSpPr txBox="1"/>
          <p:nvPr/>
        </p:nvSpPr>
        <p:spPr>
          <a:xfrm>
            <a:off x="6090524" y="5964982"/>
            <a:ext cx="25578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rgbClr val="000000"/>
                </a:solidFill>
              </a:rPr>
              <a:t>Алгоритм поступления товара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2347E0-885E-4F69-8B98-88E0317FF2A1}"/>
              </a:ext>
            </a:extLst>
          </p:cNvPr>
          <p:cNvSpPr txBox="1"/>
          <p:nvPr/>
        </p:nvSpPr>
        <p:spPr>
          <a:xfrm>
            <a:off x="9204132" y="5968010"/>
            <a:ext cx="25578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rgbClr val="000000"/>
                </a:solidFill>
              </a:rPr>
              <a:t>Алгоритм продаж</a:t>
            </a:r>
          </a:p>
        </p:txBody>
      </p:sp>
    </p:spTree>
    <p:extLst>
      <p:ext uri="{BB962C8B-B14F-4D97-AF65-F5344CB8AC3E}">
        <p14:creationId xmlns:p14="http://schemas.microsoft.com/office/powerpoint/2010/main" val="1121510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764836" y="450139"/>
            <a:ext cx="62705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rgbClr val="5412D5"/>
                </a:solidFill>
              </a:rPr>
              <a:t>Разработка программного обеспечения</a:t>
            </a:r>
            <a:endParaRPr 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12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B9AD30-48D8-44CD-95E6-FE31DF0D7A3E}"/>
              </a:ext>
            </a:extLst>
          </p:cNvPr>
          <p:cNvSpPr txBox="1"/>
          <p:nvPr/>
        </p:nvSpPr>
        <p:spPr>
          <a:xfrm>
            <a:off x="401768" y="1353566"/>
            <a:ext cx="8909380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Выбор платформы «1С:Предприятие» обусловлен следующими факторами: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Гибкость и </a:t>
            </a:r>
            <a:r>
              <a:rPr lang="ru-RU" sz="2000" dirty="0" err="1">
                <a:solidFill>
                  <a:srgbClr val="000000"/>
                </a:solidFill>
              </a:rPr>
              <a:t>настраиваемость</a:t>
            </a:r>
            <a:r>
              <a:rPr lang="ru-RU" sz="2000" dirty="0">
                <a:solidFill>
                  <a:srgbClr val="000000"/>
                </a:solidFill>
              </a:rPr>
              <a:t>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Интуитивно понятный интерфейс;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Масштабируемость;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Распространенность в отрасли;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Скорость разработки.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AE0E20F-4CAB-4063-8CDC-56DA9615C3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09" y="2189583"/>
            <a:ext cx="7076421" cy="471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4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764836" y="450139"/>
            <a:ext cx="34444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rgbClr val="5412D5"/>
                </a:solidFill>
              </a:rPr>
              <a:t>Архитектура системы</a:t>
            </a:r>
            <a:endParaRPr 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13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pic>
        <p:nvPicPr>
          <p:cNvPr id="7" name="Изображение 141" descr="ВКР-Страница — 1.drawio">
            <a:extLst>
              <a:ext uri="{FF2B5EF4-FFF2-40B4-BE49-F238E27FC236}">
                <a16:creationId xmlns:a16="http://schemas.microsoft.com/office/drawing/2014/main" id="{D46A6EFA-D165-4A4F-9FD0-696001CB9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" y="1120863"/>
            <a:ext cx="12092778" cy="487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351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764836" y="450139"/>
            <a:ext cx="41286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rgbClr val="5412D5"/>
                </a:solidFill>
              </a:rPr>
              <a:t>Взаимодействие модулей</a:t>
            </a:r>
            <a:endParaRPr 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14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F0ACC1-90D5-45DD-ADF3-0C65FA64E2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9" y="1159946"/>
            <a:ext cx="7422037" cy="493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295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764836" y="450139"/>
            <a:ext cx="63668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rgbClr val="5412D5"/>
                </a:solidFill>
              </a:rPr>
              <a:t>Функциональные возможности системы</a:t>
            </a:r>
            <a:endParaRPr 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15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B9AD30-48D8-44CD-95E6-FE31DF0D7A3E}"/>
              </a:ext>
            </a:extLst>
          </p:cNvPr>
          <p:cNvSpPr txBox="1"/>
          <p:nvPr/>
        </p:nvSpPr>
        <p:spPr>
          <a:xfrm>
            <a:off x="143738" y="973359"/>
            <a:ext cx="11713947" cy="5122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tx1">
                    <a:lumMod val="50000"/>
                  </a:schemeClr>
                </a:solidFill>
              </a:rPr>
              <a:t>1.  Создание складов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 / </a:t>
            </a:r>
            <a:r>
              <a:rPr lang="ru-RU" sz="2000" dirty="0">
                <a:solidFill>
                  <a:schemeClr val="tx1">
                    <a:lumMod val="50000"/>
                  </a:schemeClr>
                </a:solidFill>
              </a:rPr>
              <a:t>поставщиков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 / </a:t>
            </a:r>
            <a:r>
              <a:rPr lang="ru-RU" sz="2000" dirty="0">
                <a:solidFill>
                  <a:schemeClr val="tx1">
                    <a:lumMod val="50000"/>
                  </a:schemeClr>
                </a:solidFill>
              </a:rPr>
              <a:t>номенклатурных позиций.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tx1">
                    <a:lumMod val="50000"/>
                  </a:schemeClr>
                </a:solidFill>
              </a:rPr>
              <a:t>2. Создание розничных 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/</a:t>
            </a:r>
            <a:r>
              <a:rPr lang="ru-RU" sz="2000" dirty="0">
                <a:solidFill>
                  <a:schemeClr val="tx1">
                    <a:lumMod val="50000"/>
                  </a:schemeClr>
                </a:solidFill>
              </a:rPr>
              <a:t> оптовых цен на номенклатурные позиции из списка.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tx1">
                    <a:lumMod val="50000"/>
                  </a:schemeClr>
                </a:solidFill>
              </a:rPr>
              <a:t>3. Оформление заявок на поставку с автоматическим </a:t>
            </a:r>
            <a:r>
              <a:rPr lang="ru-RU" sz="2000" dirty="0" err="1">
                <a:solidFill>
                  <a:schemeClr val="tx1">
                    <a:lumMod val="50000"/>
                  </a:schemeClr>
                </a:solidFill>
              </a:rPr>
              <a:t>подставлением</a:t>
            </a:r>
            <a:r>
              <a:rPr lang="ru-RU" sz="2000" dirty="0">
                <a:solidFill>
                  <a:schemeClr val="tx1">
                    <a:lumMod val="50000"/>
                  </a:schemeClr>
                </a:solidFill>
              </a:rPr>
              <a:t> поставщика, расчетом размера заказа по формуле Уилсона и суммы.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tx1">
                    <a:lumMod val="50000"/>
                  </a:schemeClr>
                </a:solidFill>
              </a:rPr>
              <a:t>4. Формирование поступления товара в разрезе склада: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50000"/>
                  </a:schemeClr>
                </a:solidFill>
              </a:rPr>
              <a:t>Возможность заполнения позиций на основе заявки;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50000"/>
                  </a:schemeClr>
                </a:solidFill>
              </a:rPr>
              <a:t>Автоматическая подстановка цен и расчет сумм.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tx1">
                    <a:lumMod val="50000"/>
                  </a:schemeClr>
                </a:solidFill>
              </a:rPr>
              <a:t>5. Формирование продаж в разрезе склада: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50000"/>
                  </a:schemeClr>
                </a:solidFill>
              </a:rPr>
              <a:t>Автоматическая подстановка цен и расчет сумм;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50000"/>
                  </a:schemeClr>
                </a:solidFill>
              </a:rPr>
              <a:t>Формирование документов для печати.</a:t>
            </a:r>
          </a:p>
          <a:p>
            <a:pPr>
              <a:lnSpc>
                <a:spcPct val="150000"/>
              </a:lnSpc>
            </a:pPr>
            <a:endParaRPr lang="ru-RU" sz="2000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1D5286-B90B-475B-A13D-E92268827043}"/>
              </a:ext>
            </a:extLst>
          </p:cNvPr>
          <p:cNvSpPr txBox="1"/>
          <p:nvPr/>
        </p:nvSpPr>
        <p:spPr>
          <a:xfrm>
            <a:off x="7313844" y="2669915"/>
            <a:ext cx="4734418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tx1">
                    <a:lumMod val="50000"/>
                  </a:schemeClr>
                </a:solidFill>
              </a:rPr>
              <a:t>6. Просмотр отчетов: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ABC-</a:t>
            </a:r>
            <a:r>
              <a:rPr lang="ru-RU" sz="2000" dirty="0">
                <a:solidFill>
                  <a:schemeClr val="tx1">
                    <a:lumMod val="50000"/>
                  </a:schemeClr>
                </a:solidFill>
              </a:rPr>
              <a:t>анализ за период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XYZ</a:t>
            </a:r>
            <a:r>
              <a:rPr lang="ru-RU" sz="2000" dirty="0">
                <a:solidFill>
                  <a:schemeClr val="tx1">
                    <a:lumMod val="50000"/>
                  </a:schemeClr>
                </a:solidFill>
              </a:rPr>
              <a:t>-анализ за период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50000"/>
                  </a:schemeClr>
                </a:solidFill>
              </a:rPr>
              <a:t>Движение товаров по складу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50000"/>
                  </a:schemeClr>
                </a:solidFill>
              </a:rPr>
              <a:t>Остатки товаров на складах на </a:t>
            </a:r>
          </a:p>
          <a:p>
            <a:pPr lvl="1">
              <a:lnSpc>
                <a:spcPct val="150000"/>
              </a:lnSpc>
            </a:pPr>
            <a:r>
              <a:rPr lang="ru-RU" sz="2000" dirty="0">
                <a:solidFill>
                  <a:schemeClr val="tx1">
                    <a:lumMod val="50000"/>
                  </a:schemeClr>
                </a:solidFill>
              </a:rPr>
              <a:t>выбранную дату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50000"/>
                  </a:schemeClr>
                </a:solidFill>
              </a:rPr>
              <a:t>Продажи за выбранный период</a:t>
            </a:r>
          </a:p>
          <a:p>
            <a:pPr>
              <a:lnSpc>
                <a:spcPct val="150000"/>
              </a:lnSpc>
            </a:pPr>
            <a:endParaRPr lang="ru-RU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067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764836" y="450139"/>
            <a:ext cx="45192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rgbClr val="5412D5"/>
                </a:solidFill>
              </a:rPr>
              <a:t>Интерфейс программы (1</a:t>
            </a:r>
            <a:r>
              <a:rPr lang="en-US" sz="2800" dirty="0">
                <a:solidFill>
                  <a:srgbClr val="5412D5"/>
                </a:solidFill>
              </a:rPr>
              <a:t>/</a:t>
            </a:r>
            <a:r>
              <a:rPr lang="ru-RU" sz="2800" dirty="0">
                <a:solidFill>
                  <a:srgbClr val="5412D5"/>
                </a:solidFill>
              </a:rPr>
              <a:t>6)</a:t>
            </a:r>
            <a:endParaRPr 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16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E8FDDAF-D6E3-4BC8-9A39-F1E786E250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9676"/>
          <a:stretch/>
        </p:blipFill>
        <p:spPr>
          <a:xfrm>
            <a:off x="1074198" y="1150709"/>
            <a:ext cx="9297880" cy="315496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35D5E63-3184-4818-8D2B-0D9311170B5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659" r="58554" b="60259"/>
          <a:stretch/>
        </p:blipFill>
        <p:spPr>
          <a:xfrm>
            <a:off x="1074198" y="4305669"/>
            <a:ext cx="4403324" cy="179772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385DD9-722A-40A2-9D69-1A5423FCCE1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" t="10051" r="60808" b="60777"/>
          <a:stretch/>
        </p:blipFill>
        <p:spPr>
          <a:xfrm>
            <a:off x="5769012" y="4176141"/>
            <a:ext cx="4603066" cy="192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909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17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CA6C01-71BD-43E1-9065-2D0E4CBBD8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641"/>
          <a:stretch/>
        </p:blipFill>
        <p:spPr>
          <a:xfrm>
            <a:off x="133414" y="1567124"/>
            <a:ext cx="11925171" cy="4115921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65DCE85-3126-408B-9721-F4624865320A}"/>
              </a:ext>
            </a:extLst>
          </p:cNvPr>
          <p:cNvSpPr/>
          <p:nvPr/>
        </p:nvSpPr>
        <p:spPr>
          <a:xfrm>
            <a:off x="3764836" y="450139"/>
            <a:ext cx="45192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rgbClr val="5412D5"/>
                </a:solidFill>
              </a:rPr>
              <a:t>Интерфейс программы (2</a:t>
            </a:r>
            <a:r>
              <a:rPr lang="en-US" sz="2800" dirty="0">
                <a:solidFill>
                  <a:srgbClr val="5412D5"/>
                </a:solidFill>
              </a:rPr>
              <a:t>/</a:t>
            </a:r>
            <a:r>
              <a:rPr lang="ru-RU" sz="2800" dirty="0">
                <a:solidFill>
                  <a:srgbClr val="5412D5"/>
                </a:solidFill>
              </a:rPr>
              <a:t>6)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993478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18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5A4144-B1B9-4650-AE1E-6AB44B5B17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967" b="54435"/>
          <a:stretch/>
        </p:blipFill>
        <p:spPr>
          <a:xfrm>
            <a:off x="676431" y="3515558"/>
            <a:ext cx="11423785" cy="226581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82BF964-3568-4353-A345-11059EF7CEE3}"/>
              </a:ext>
            </a:extLst>
          </p:cNvPr>
          <p:cNvSpPr/>
          <p:nvPr/>
        </p:nvSpPr>
        <p:spPr>
          <a:xfrm>
            <a:off x="3764836" y="450139"/>
            <a:ext cx="45192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rgbClr val="5412D5"/>
                </a:solidFill>
              </a:rPr>
              <a:t>Интерфейс программы (3</a:t>
            </a:r>
            <a:r>
              <a:rPr lang="en-US" sz="2800" dirty="0">
                <a:solidFill>
                  <a:srgbClr val="5412D5"/>
                </a:solidFill>
              </a:rPr>
              <a:t>/</a:t>
            </a:r>
            <a:r>
              <a:rPr lang="ru-RU" sz="2800" dirty="0">
                <a:solidFill>
                  <a:srgbClr val="5412D5"/>
                </a:solidFill>
              </a:rPr>
              <a:t>6)</a:t>
            </a:r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DBEED14-1864-4529-BC59-4D02343A184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584" b="59450"/>
          <a:stretch/>
        </p:blipFill>
        <p:spPr>
          <a:xfrm>
            <a:off x="575034" y="1159498"/>
            <a:ext cx="11525181" cy="194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069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19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D16E09B-4149-44C4-AB59-C83D44E5C1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2233"/>
          <a:stretch/>
        </p:blipFill>
        <p:spPr>
          <a:xfrm>
            <a:off x="758102" y="1140542"/>
            <a:ext cx="10524337" cy="282777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8255CA-8CEA-4D92-9909-D63075636F2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57" t="18511" r="48373" b="50000"/>
          <a:stretch/>
        </p:blipFill>
        <p:spPr>
          <a:xfrm>
            <a:off x="2627011" y="3879829"/>
            <a:ext cx="6527345" cy="2304466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9D10B9E-749D-447F-956C-FCF917DD3603}"/>
              </a:ext>
            </a:extLst>
          </p:cNvPr>
          <p:cNvSpPr/>
          <p:nvPr/>
        </p:nvSpPr>
        <p:spPr>
          <a:xfrm>
            <a:off x="3764836" y="450139"/>
            <a:ext cx="45192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rgbClr val="5412D5"/>
                </a:solidFill>
              </a:rPr>
              <a:t>Интерфейс программы (4</a:t>
            </a:r>
            <a:r>
              <a:rPr lang="en-US" sz="2800" dirty="0">
                <a:solidFill>
                  <a:srgbClr val="5412D5"/>
                </a:solidFill>
              </a:rPr>
              <a:t>/</a:t>
            </a:r>
            <a:r>
              <a:rPr lang="ru-RU" sz="2800" dirty="0">
                <a:solidFill>
                  <a:srgbClr val="5412D5"/>
                </a:solidFill>
              </a:rPr>
              <a:t>6)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13030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20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AD0ADA7-02A7-4F4F-89F7-D895146290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968" r="35049" b="41747"/>
          <a:stretch/>
        </p:blipFill>
        <p:spPr>
          <a:xfrm>
            <a:off x="160502" y="1296140"/>
            <a:ext cx="7208668" cy="301438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DCB99E7-98F2-4093-A6A4-CFADC1D7EF2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44" t="10409" r="35024" b="46667"/>
          <a:stretch/>
        </p:blipFill>
        <p:spPr>
          <a:xfrm>
            <a:off x="3547871" y="2724911"/>
            <a:ext cx="7855501" cy="2943747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D8AB41A-FD56-4322-AA42-C1ED46037CE1}"/>
              </a:ext>
            </a:extLst>
          </p:cNvPr>
          <p:cNvSpPr/>
          <p:nvPr/>
        </p:nvSpPr>
        <p:spPr>
          <a:xfrm>
            <a:off x="3764836" y="450139"/>
            <a:ext cx="45192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rgbClr val="5412D5"/>
                </a:solidFill>
              </a:rPr>
              <a:t>Интерфейс программы (5</a:t>
            </a:r>
            <a:r>
              <a:rPr lang="en-US" sz="2800" dirty="0">
                <a:solidFill>
                  <a:srgbClr val="5412D5"/>
                </a:solidFill>
              </a:rPr>
              <a:t>/</a:t>
            </a:r>
            <a:r>
              <a:rPr lang="ru-RU" sz="2800" dirty="0">
                <a:solidFill>
                  <a:srgbClr val="5412D5"/>
                </a:solidFill>
              </a:rPr>
              <a:t>6)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905940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21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E02F5C0-E04F-4294-95F5-DE6495A679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579" r="62427" b="32686"/>
          <a:stretch/>
        </p:blipFill>
        <p:spPr>
          <a:xfrm>
            <a:off x="417250" y="1278385"/>
            <a:ext cx="4580878" cy="3959440"/>
          </a:xfrm>
          <a:prstGeom prst="rect">
            <a:avLst/>
          </a:prstGeom>
        </p:spPr>
      </p:pic>
      <p:pic>
        <p:nvPicPr>
          <p:cNvPr id="8" name="Изображение 35">
            <a:extLst>
              <a:ext uri="{FF2B5EF4-FFF2-40B4-BE49-F238E27FC236}">
                <a16:creationId xmlns:a16="http://schemas.microsoft.com/office/drawing/2014/main" id="{DD63C01D-1F94-4612-9915-8CB895404F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822" r="81167" b="18858"/>
          <a:stretch>
            <a:fillRect/>
          </a:stretch>
        </p:blipFill>
        <p:spPr>
          <a:xfrm>
            <a:off x="5534940" y="1278385"/>
            <a:ext cx="2037715" cy="4280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B4FF08-AE38-4F18-BEFA-2995FAEDA05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709" r="72694" b="9514"/>
          <a:stretch/>
        </p:blipFill>
        <p:spPr>
          <a:xfrm>
            <a:off x="7940790" y="450139"/>
            <a:ext cx="3329126" cy="5539667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C7ADBB8-6C0E-4409-A794-BB7386C045B8}"/>
              </a:ext>
            </a:extLst>
          </p:cNvPr>
          <p:cNvSpPr/>
          <p:nvPr/>
        </p:nvSpPr>
        <p:spPr>
          <a:xfrm>
            <a:off x="3454378" y="450139"/>
            <a:ext cx="45192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rgbClr val="5412D5"/>
                </a:solidFill>
              </a:rPr>
              <a:t>Интерфейс программы (6</a:t>
            </a:r>
            <a:r>
              <a:rPr lang="en-US" sz="2800" dirty="0">
                <a:solidFill>
                  <a:srgbClr val="5412D5"/>
                </a:solidFill>
              </a:rPr>
              <a:t>/</a:t>
            </a:r>
            <a:r>
              <a:rPr lang="ru-RU" sz="2800" dirty="0">
                <a:solidFill>
                  <a:srgbClr val="5412D5"/>
                </a:solidFill>
              </a:rPr>
              <a:t>6)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972553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5155486" y="459664"/>
            <a:ext cx="15051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rgbClr val="5412D5"/>
                </a:solidFill>
              </a:rPr>
              <a:t>Выводы:</a:t>
            </a:r>
            <a:endParaRPr 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22 </a:t>
            </a:r>
            <a:r>
              <a:rPr lang="en-US" dirty="0"/>
              <a:t>/</a:t>
            </a:r>
            <a:r>
              <a:rPr lang="ru-RU" dirty="0"/>
              <a:t> 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8A5614-E439-4922-84E0-6898DFF0B650}"/>
              </a:ext>
            </a:extLst>
          </p:cNvPr>
          <p:cNvSpPr txBox="1"/>
          <p:nvPr/>
        </p:nvSpPr>
        <p:spPr>
          <a:xfrm>
            <a:off x="407084" y="1140145"/>
            <a:ext cx="11194026" cy="471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tabLst>
                <a:tab pos="1933575" algn="l"/>
              </a:tabLst>
            </a:pPr>
            <a:r>
              <a:rPr lang="ru-RU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 результате выполнения ВКР были решены следующие задачи: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tabLst>
                <a:tab pos="1933575" algn="l"/>
              </a:tabLst>
            </a:pPr>
            <a:r>
              <a:rPr lang="ru-RU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1. Проведен анализ предметной области, выполнен обзор современных методов управления запасами на складе и соответствующих программных решений.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tabLst>
                <a:tab pos="1933575" algn="l"/>
              </a:tabLst>
            </a:pPr>
            <a:r>
              <a:rPr lang="ru-RU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2. В результате анализа моделей и методов по управлению запасами для решения поставленной задачи была использована модифицированная модель экономического размера заказа и модели 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ABC / XYZ</a:t>
            </a:r>
            <a:r>
              <a:rPr lang="ru-RU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-анализа.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tabLst>
                <a:tab pos="1933575" algn="l"/>
              </a:tabLst>
            </a:pPr>
            <a:r>
              <a:rPr lang="ru-RU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3. Разработано алгоритмическое 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обеспечение контроля и учета товарных запасов на складе, </a:t>
            </a:r>
            <a:r>
              <a:rPr lang="ru-RU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реализация которого была выполнена на платформе 1С:Предприятие.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tabLst>
                <a:tab pos="1933575" algn="l"/>
              </a:tabLst>
            </a:pP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4. Вычислительные эксперименты показали возможность применения разработанного программного обеспечения в практической деятельности.</a:t>
            </a:r>
            <a:r>
              <a:rPr lang="ru-RU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1933575" algn="l"/>
              </a:tabLst>
            </a:pPr>
            <a:endParaRPr lang="ru-RU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16107B-EE0A-4C4F-9A37-B96579931EE4}"/>
              </a:ext>
            </a:extLst>
          </p:cNvPr>
          <p:cNvSpPr txBox="1"/>
          <p:nvPr/>
        </p:nvSpPr>
        <p:spPr>
          <a:xfrm>
            <a:off x="407084" y="5645391"/>
            <a:ext cx="11818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В дальнейшем система может быть расширена за счет интеграции с внешними платформами.</a:t>
            </a:r>
            <a:endParaRPr lang="ru-RU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9878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02434BC8-AC03-4FB7-A2E8-CC0524220D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2784" y="2842443"/>
            <a:ext cx="11106432" cy="586557"/>
          </a:xfrm>
        </p:spPr>
        <p:txBody>
          <a:bodyPr>
            <a:noAutofit/>
          </a:bodyPr>
          <a:lstStyle/>
          <a:p>
            <a:pPr algn="ctr"/>
            <a:r>
              <a:rPr lang="ru-RU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766003109"/>
      </p:ext>
    </p:extLst>
  </p:cSld>
  <p:clrMapOvr>
    <a:masterClrMapping/>
  </p:clrMapOvr>
</p:sld>
</file>

<file path=ppt/theme/theme1.xml><?xml version="1.0" encoding="utf-8"?>
<a:theme xmlns:a="http://schemas.openxmlformats.org/drawingml/2006/main" name="УУНиТ 1">
  <a:themeElements>
    <a:clrScheme name="УУНиТ">
      <a:dk1>
        <a:srgbClr val="2A1468"/>
      </a:dk1>
      <a:lt1>
        <a:srgbClr val="FFFFFF"/>
      </a:lt1>
      <a:dk2>
        <a:srgbClr val="CBB8FF"/>
      </a:dk2>
      <a:lt2>
        <a:srgbClr val="FFFFFF"/>
      </a:lt2>
      <a:accent1>
        <a:srgbClr val="4D19CC"/>
      </a:accent1>
      <a:accent2>
        <a:srgbClr val="C1F26B"/>
      </a:accent2>
      <a:accent3>
        <a:srgbClr val="FFA039"/>
      </a:accent3>
      <a:accent4>
        <a:srgbClr val="EA591F"/>
      </a:accent4>
      <a:accent5>
        <a:srgbClr val="F9D84B"/>
      </a:accent5>
      <a:accent6>
        <a:srgbClr val="00BC7D"/>
      </a:accent6>
      <a:hlink>
        <a:srgbClr val="4D19CC"/>
      </a:hlink>
      <a:folHlink>
        <a:srgbClr val="000000"/>
      </a:folHlink>
    </a:clrScheme>
    <a:fontScheme name="Golos">
      <a:majorFont>
        <a:latin typeface="Golos Text DemiBold"/>
        <a:ea typeface=""/>
        <a:cs typeface=""/>
      </a:majorFont>
      <a:minorFont>
        <a:latin typeface="Golos Tex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1" id="{A615A339-C75B-4587-A9E8-DA5BDFE9C088}" vid="{B02C648B-A09B-4000-B327-CE6C0337626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29346</TotalTime>
  <Words>995</Words>
  <Application>Microsoft Office PowerPoint</Application>
  <PresentationFormat>Широкоэкранный</PresentationFormat>
  <Paragraphs>182</Paragraphs>
  <Slides>23</Slides>
  <Notes>22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0" baseType="lpstr">
      <vt:lpstr>Arial</vt:lpstr>
      <vt:lpstr>Calibri</vt:lpstr>
      <vt:lpstr>Golos Text</vt:lpstr>
      <vt:lpstr>Golos Text DemiBold</vt:lpstr>
      <vt:lpstr>Times New Roman</vt:lpstr>
      <vt:lpstr>УУНиТ 1</vt:lpstr>
      <vt:lpstr>Microsoft Equation 3.0</vt:lpstr>
      <vt:lpstr>МАТЕМАТИЧЕСКОЕ И ПРОГРАММНОЕ ОБЕСПЕЧЕНИЕ СИСТЕМЫ УПРАВЛЕНИЯ ЗАПАСАМИ НА СКЛАДЕ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МАТЕМАТИЧЕСКОЕ И ПРОГРАММНОЕ ОБЕСПЕЧЕНИЕ СИСТЕМЫ УПРАВЛЕНИЯ ЗАПАСАМИ НА СКЛАДЕ</dc:title>
  <dc:creator>ilinagabbasova1@gmail.com</dc:creator>
  <cp:lastModifiedBy>ilinagabbasova1@gmail.com</cp:lastModifiedBy>
  <cp:revision>46</cp:revision>
  <cp:lastPrinted>2025-06-24T18:47:47Z</cp:lastPrinted>
  <dcterms:created xsi:type="dcterms:W3CDTF">2025-06-06T07:12:10Z</dcterms:created>
  <dcterms:modified xsi:type="dcterms:W3CDTF">2025-06-30T03:09:53Z</dcterms:modified>
</cp:coreProperties>
</file>